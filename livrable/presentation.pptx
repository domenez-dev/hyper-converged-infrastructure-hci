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4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Canva Sans Bold" charset="1" panose="020B0803030501040103"/>
      <p:regular r:id="rId46"/>
    </p:embeddedFont>
    <p:embeddedFont>
      <p:font typeface="Poppins Bold" charset="1" panose="00000800000000000000"/>
      <p:regular r:id="rId47"/>
    </p:embeddedFont>
    <p:embeddedFont>
      <p:font typeface="Poppins" charset="1" panose="00000500000000000000"/>
      <p:regular r:id="rId48"/>
    </p:embeddedFont>
    <p:embeddedFont>
      <p:font typeface="Quattrocento Bold" charset="1" panose="02020802030000000404"/>
      <p:regular r:id="rId50"/>
    </p:embeddedFont>
    <p:embeddedFont>
      <p:font typeface="Quattrocento" charset="1" panose="02020502030000000404"/>
      <p:regular r:id="rId51"/>
    </p:embeddedFont>
    <p:embeddedFont>
      <p:font typeface="Alexandria Bold" charset="1" panose="00000000000000000000"/>
      <p:regular r:id="rId64"/>
    </p:embeddedFont>
    <p:embeddedFont>
      <p:font typeface="Alexandria" charset="1" panose="00000000000000000000"/>
      <p:regular r:id="rId65"/>
    </p:embeddedFont>
    <p:embeddedFont>
      <p:font typeface="Calibri (MS) Bold" charset="1" panose="020F0702030404030204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notesMasters/notesMaster1.xml" Type="http://schemas.openxmlformats.org/officeDocument/2006/relationships/notesMaster"/><Relationship Id="rId44" Target="theme/theme2.xml" Type="http://schemas.openxmlformats.org/officeDocument/2006/relationships/theme"/><Relationship Id="rId45" Target="notesSlides/notesSlide1.xml" Type="http://schemas.openxmlformats.org/officeDocument/2006/relationships/notes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notesSlides/notesSlide2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notesSlides/notesSlide3.xml" Type="http://schemas.openxmlformats.org/officeDocument/2006/relationships/notesSlide"/><Relationship Id="rId53" Target="notesSlides/notesSlide4.xml" Type="http://schemas.openxmlformats.org/officeDocument/2006/relationships/notesSlide"/><Relationship Id="rId54" Target="notesSlides/notesSlide5.xml" Type="http://schemas.openxmlformats.org/officeDocument/2006/relationships/notesSlide"/><Relationship Id="rId55" Target="notesSlides/notesSlide6.xml" Type="http://schemas.openxmlformats.org/officeDocument/2006/relationships/notesSlide"/><Relationship Id="rId56" Target="notesSlides/notesSlide7.xml" Type="http://schemas.openxmlformats.org/officeDocument/2006/relationships/notesSlide"/><Relationship Id="rId57" Target="notesSlides/notesSlide8.xml" Type="http://schemas.openxmlformats.org/officeDocument/2006/relationships/notesSlide"/><Relationship Id="rId58" Target="notesSlides/notesSlide9.xml" Type="http://schemas.openxmlformats.org/officeDocument/2006/relationships/notesSlide"/><Relationship Id="rId59" Target="notesSlides/notesSlide10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1.xml" Type="http://schemas.openxmlformats.org/officeDocument/2006/relationships/notesSlide"/><Relationship Id="rId61" Target="notesSlides/notesSlide12.xml" Type="http://schemas.openxmlformats.org/officeDocument/2006/relationships/notesSlide"/><Relationship Id="rId62" Target="notesSlides/notesSlide13.xml" Type="http://schemas.openxmlformats.org/officeDocument/2006/relationships/notesSlide"/><Relationship Id="rId63" Target="notesSlides/notesSlide14.xml" Type="http://schemas.openxmlformats.org/officeDocument/2006/relationships/notesSlide"/><Relationship Id="rId64" Target="fonts/font64.fntdata" Type="http://schemas.openxmlformats.org/officeDocument/2006/relationships/font"/><Relationship Id="rId65" Target="fonts/font65.fntdata" Type="http://schemas.openxmlformats.org/officeDocument/2006/relationships/font"/><Relationship Id="rId66" Target="notesSlides/notesSlide15.xml" Type="http://schemas.openxmlformats.org/officeDocument/2006/relationships/notesSlide"/><Relationship Id="rId67" Target="notesSlides/notesSlide16.xml" Type="http://schemas.openxmlformats.org/officeDocument/2006/relationships/notesSlide"/><Relationship Id="rId68" Target="notesSlides/notesSlide17.xml" Type="http://schemas.openxmlformats.org/officeDocument/2006/relationships/notesSlide"/><Relationship Id="rId69" Target="notesSlides/notesSlide18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19.xml" Type="http://schemas.openxmlformats.org/officeDocument/2006/relationships/notesSlide"/><Relationship Id="rId71" Target="notesSlides/notesSlide20.xml" Type="http://schemas.openxmlformats.org/officeDocument/2006/relationships/notesSlide"/><Relationship Id="rId72" Target="fonts/font72.fntdata" Type="http://schemas.openxmlformats.org/officeDocument/2006/relationships/font"/><Relationship Id="rId73" Target="notesSlides/notesSlide21.xml" Type="http://schemas.openxmlformats.org/officeDocument/2006/relationships/notesSlide"/><Relationship Id="rId74" Target="notesSlides/notesSlide22.xml" Type="http://schemas.openxmlformats.org/officeDocument/2006/relationships/notesSlide"/><Relationship Id="rId75" Target="notesSlides/notesSlide23.xml" Type="http://schemas.openxmlformats.org/officeDocument/2006/relationships/notesSlide"/><Relationship Id="rId76" Target="notesSlides/notesSlide24.xml" Type="http://schemas.openxmlformats.org/officeDocument/2006/relationships/notesSlide"/><Relationship Id="rId77" Target="notesSlides/notesSlide25.xml" Type="http://schemas.openxmlformats.org/officeDocument/2006/relationships/notesSlide"/><Relationship Id="rId78" Target="notesSlides/notesSlide26.xml" Type="http://schemas.openxmlformats.org/officeDocument/2006/relationships/notesSlide"/><Relationship Id="rId79" Target="notesSlides/notesSlide27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28.xml" Type="http://schemas.openxmlformats.org/officeDocument/2006/relationships/notesSlide"/><Relationship Id="rId81" Target="notesSlides/notesSlide29.xml" Type="http://schemas.openxmlformats.org/officeDocument/2006/relationships/notesSlide"/><Relationship Id="rId82" Target="notesSlides/notesSlide30.xml" Type="http://schemas.openxmlformats.org/officeDocument/2006/relationships/notesSlide"/><Relationship Id="rId83" Target="notesSlides/notesSlide31.xml" Type="http://schemas.openxmlformats.org/officeDocument/2006/relationships/notesSlide"/><Relationship Id="rId84" Target="notesSlides/notesSlide32.xml" Type="http://schemas.openxmlformats.org/officeDocument/2006/relationships/notesSlide"/><Relationship Id="rId85" Target="notesSlides/notesSlide33.xml" Type="http://schemas.openxmlformats.org/officeDocument/2006/relationships/notesSlide"/><Relationship Id="rId86" Target="notesSlides/notesSlide34.xml" Type="http://schemas.openxmlformats.org/officeDocument/2006/relationships/notes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Pour l'automatisation, nous utilisons trois outils ensemble.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Ansible est notre moteur principal. Il configure les VMs automatiquement avec des fichiers YAML. Il fonctionne via SSH, sans agent installé sur les machines.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GitLab CI/CD gère le code des playbooks. Il teste et valide chaque changement avant de le déployer.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GitLab est aussi accessible depuis</a:t>
            </a:r>
          </a:p>
          <a:p>
            <a:r>
              <a:rPr lang="en-US"/>
              <a:t/>
            </a:r>
          </a:p>
          <a:p>
            <a:r>
              <a:rPr lang="en-US"/>
              <a:t>les trois réseaux de développement et le réseau de management, donc il est disponible dans toute l'infrastructure.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Rundeck offre une interface web simple pour lancer les playbooks sans accès SSH direct. Il garde aussi un historique de toutes les actions.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Ces trois outils forment un pipeline complet : Ansible fait le travail, GitLab contrôle le code, Rundeck orchestre l'exécution.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Nous avons validé notre infrastructure avec des tests concrets sur chaque composant.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Pour Proxmox HA, nous avons éteint un nœud. Résultat : les VMs ont redémarré automatiquement sur les nœuds restants.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Pour le CLBS, nous avons créé une charge artificielle sur les VMs. Résultat : la migration à chaud s'est déclenchée automatiquement.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Pour Ceph, nous avons simulé la panne d'un OSD. Résultat : la resynchronisation automatique a fonctionné correctement.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Pour OPNsense, nous avons testé le filtrage inter-zones. Résultat : les règles DENY ALL avec exceptions ont fonctionné correctement.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Pour AlertManager, nous avons dépassé les seuils configurés. Résultat : une notification Gmail a été reçue.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Et pour NTP Chrony, nous avons vérifié la synchronisation du cluster. Résultat : le drift est inférieur à 1 milliseconde.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Tous les tests ont réussi.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Notre solution apporte une vraie valeur ajoutée à Sonatrach.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D'abord, le coût est zéro pour les licences, aucune licence propriétaire n'est nécessaire.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Ensuite, la souveraineté technologique : le code source est accessible, modifiable et auditable.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Le CLBS comble un manque réel de Proxmox VE, car il n'y a pas d'équivalent au DRS de VMware dans Proxmox.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En comparaison directe avec Nutanix, OpenStack et Harvester, notre solution est plus légère et opérationnelle en quelques heures sur trois nœuds.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Et enfin, la solution est déployable sur du matériel existant, nous avons réutilisé les serveurs R720 sans investissement supplémentaire.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Nous devons aussi parler des limites de notre projet.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Le pipeline PXE et TFTP a été conçu, mais nous n'avons pas pu le valider en conditions réelles car le matériel dédié n'était pas disponible.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La segmentation VxLAN manuelle est fastidieuse à grande échelle, car le switch physique de Sonatrach n'était pas accessible.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Pour l'avenir, nous avons identifié six perspectives d'évolution.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La première est de migrer de VxLAN OVS vers VLAN natif avec OVS pour simplifier la gestion réseau.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La deuxième est de centraliser l'authentification via OpenLDAP pour avoir un seul point de gestion des utilisateurs.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La troisième est de valider le pipeline PXE et Ansible pour faire l'onboarding d'un nouveau nœud en moins de 25 minutes sans intervention manuelle.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La quatrième est de mettre en place Proxmox Backup Server avec un plan de Disaster Recovery.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La cinquième est de remplacer Grafana, Loki et AlertManager par Wazuh pour avoir un SIEM complet.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Et la sixième est de déployer Apprise pour des notifications multi-canaux comme WhatsApp, SMS et SMTP.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Pour conclure, notre projet a été un succès.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Nous avons déployé une infrastructure HCI open source complète qui répond aux besoins de test et R&amp;D de Sonatrach.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Notre stack est composée de Proxmox VE, Ceph, OVS, OPNsense, Grafana et Ansible. Tout est 100% open source.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Notre solution CLBS personnalisée comble le manque d'équilibrage de charge automatique dans Proxmox.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L'infrastructure est validée et opérationnelle pour les tests et la R&amp;D.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Et la réduction des coûts est significative par rapport aux solutions propriétaires comme Nutanix.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9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9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9.jpe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36.png" Type="http://schemas.openxmlformats.org/officeDocument/2006/relationships/image"/><Relationship Id="rId13" Target="../media/image37.svg" Type="http://schemas.openxmlformats.org/officeDocument/2006/relationships/image"/><Relationship Id="rId14" Target="../media/image38.png" Type="http://schemas.openxmlformats.org/officeDocument/2006/relationships/image"/><Relationship Id="rId15" Target="../media/image39.svg" Type="http://schemas.openxmlformats.org/officeDocument/2006/relationships/image"/><Relationship Id="rId16" Target="../media/image40.png" Type="http://schemas.openxmlformats.org/officeDocument/2006/relationships/image"/><Relationship Id="rId17" Target="../media/image41.svg" Type="http://schemas.openxmlformats.org/officeDocument/2006/relationships/image"/><Relationship Id="rId18" Target="../media/image42.png" Type="http://schemas.openxmlformats.org/officeDocument/2006/relationships/image"/><Relationship Id="rId19" Target="../media/image43.sv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44.png" Type="http://schemas.openxmlformats.org/officeDocument/2006/relationships/image"/><Relationship Id="rId21" Target="../media/image45.svg" Type="http://schemas.openxmlformats.org/officeDocument/2006/relationships/image"/><Relationship Id="rId22" Target="../media/image46.png" Type="http://schemas.openxmlformats.org/officeDocument/2006/relationships/image"/><Relationship Id="rId23" Target="../media/image47.svg" Type="http://schemas.openxmlformats.org/officeDocument/2006/relationships/image"/><Relationship Id="rId3" Target="../media/image9.jpe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58.png" Type="http://schemas.openxmlformats.org/officeDocument/2006/relationships/image"/><Relationship Id="rId15" Target="../media/image59.svg" Type="http://schemas.openxmlformats.org/officeDocument/2006/relationships/image"/><Relationship Id="rId16" Target="../media/image60.png" Type="http://schemas.openxmlformats.org/officeDocument/2006/relationships/image"/><Relationship Id="rId17" Target="../media/image61.svg" Type="http://schemas.openxmlformats.org/officeDocument/2006/relationships/image"/><Relationship Id="rId18" Target="../media/image62.png" Type="http://schemas.openxmlformats.org/officeDocument/2006/relationships/image"/><Relationship Id="rId19" Target="../media/image63.sv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64.png" Type="http://schemas.openxmlformats.org/officeDocument/2006/relationships/image"/><Relationship Id="rId21" Target="../media/image65.svg" Type="http://schemas.openxmlformats.org/officeDocument/2006/relationships/image"/><Relationship Id="rId3" Target="../media/image9.jpe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9.jpeg" Type="http://schemas.openxmlformats.org/officeDocument/2006/relationships/image"/><Relationship Id="rId4" Target="../media/image66.jpe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9.jpeg" Type="http://schemas.openxmlformats.org/officeDocument/2006/relationships/image"/><Relationship Id="rId4" Target="../media/image6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9.jpe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9.jpe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77.png" Type="http://schemas.openxmlformats.org/officeDocument/2006/relationships/image"/><Relationship Id="rId7" Target="../media/image78.svg" Type="http://schemas.openxmlformats.org/officeDocument/2006/relationships/image"/><Relationship Id="rId8" Target="../media/image79.png" Type="http://schemas.openxmlformats.org/officeDocument/2006/relationships/image"/><Relationship Id="rId9" Target="../media/image8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3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8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8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9.jpeg" Type="http://schemas.openxmlformats.org/officeDocument/2006/relationships/image"/><Relationship Id="rId4" Target="../media/image8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8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9.jpe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png" Type="http://schemas.openxmlformats.org/officeDocument/2006/relationships/image"/><Relationship Id="rId8" Target="../media/image94.png" Type="http://schemas.openxmlformats.org/officeDocument/2006/relationships/image"/><Relationship Id="rId9" Target="../media/image9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9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9.jpe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png" Type="http://schemas.openxmlformats.org/officeDocument/2006/relationships/image"/><Relationship Id="rId2" Target="../notesSlides/notesSlide28.xml" Type="http://schemas.openxmlformats.org/officeDocument/2006/relationships/notesSlide"/><Relationship Id="rId3" Target="../media/image9.jpeg" Type="http://schemas.openxmlformats.org/officeDocument/2006/relationships/image"/><Relationship Id="rId4" Target="../media/image100.png" Type="http://schemas.openxmlformats.org/officeDocument/2006/relationships/image"/><Relationship Id="rId5" Target="../media/image101.png" Type="http://schemas.openxmlformats.org/officeDocument/2006/relationships/image"/><Relationship Id="rId6" Target="../media/image102.png" Type="http://schemas.openxmlformats.org/officeDocument/2006/relationships/image"/><Relationship Id="rId7" Target="../media/image103.png" Type="http://schemas.openxmlformats.org/officeDocument/2006/relationships/image"/><Relationship Id="rId8" Target="../media/image104.pn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Relationship Id="rId3" Target="../media/image9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Relationship Id="rId3" Target="../media/image9.jpeg" Type="http://schemas.openxmlformats.org/officeDocument/2006/relationships/image"/><Relationship Id="rId4" Target="../media/image83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svg" Type="http://schemas.openxmlformats.org/officeDocument/2006/relationships/image"/><Relationship Id="rId2" Target="../notesSlides/notesSlide33.xml" Type="http://schemas.openxmlformats.org/officeDocument/2006/relationships/notesSlide"/><Relationship Id="rId3" Target="../media/image9.jpe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07.png" Type="http://schemas.openxmlformats.org/officeDocument/2006/relationships/image"/><Relationship Id="rId7" Target="../media/image108.svg" Type="http://schemas.openxmlformats.org/officeDocument/2006/relationships/image"/><Relationship Id="rId8" Target="../media/image109.png" Type="http://schemas.openxmlformats.org/officeDocument/2006/relationships/image"/><Relationship Id="rId9" Target="../media/image110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Relationship Id="rId3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263" y="661664"/>
            <a:ext cx="1762125" cy="1762125"/>
            <a:chOff x="0" y="0"/>
            <a:chExt cx="2349500" cy="2349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9500" cy="2349500"/>
            </a:xfrm>
            <a:custGeom>
              <a:avLst/>
              <a:gdLst/>
              <a:ahLst/>
              <a:cxnLst/>
              <a:rect r="r" b="b" t="t" l="l"/>
              <a:pathLst>
                <a:path h="2349500" w="2349500">
                  <a:moveTo>
                    <a:pt x="0" y="0"/>
                  </a:moveTo>
                  <a:lnTo>
                    <a:pt x="2349500" y="0"/>
                  </a:lnTo>
                  <a:lnTo>
                    <a:pt x="2349500" y="2349500"/>
                  </a:lnTo>
                  <a:lnTo>
                    <a:pt x="0" y="234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61664"/>
            <a:ext cx="1762125" cy="1762125"/>
            <a:chOff x="0" y="0"/>
            <a:chExt cx="2349500" cy="2349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9500" cy="2349500"/>
            </a:xfrm>
            <a:custGeom>
              <a:avLst/>
              <a:gdLst/>
              <a:ahLst/>
              <a:cxnLst/>
              <a:rect r="r" b="b" t="t" l="l"/>
              <a:pathLst>
                <a:path h="2349500" w="2349500">
                  <a:moveTo>
                    <a:pt x="0" y="0"/>
                  </a:moveTo>
                  <a:lnTo>
                    <a:pt x="2349500" y="0"/>
                  </a:lnTo>
                  <a:lnTo>
                    <a:pt x="2349500" y="2349500"/>
                  </a:lnTo>
                  <a:lnTo>
                    <a:pt x="0" y="234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65197" y="3333760"/>
            <a:ext cx="6357556" cy="165097"/>
          </a:xfrm>
          <a:custGeom>
            <a:avLst/>
            <a:gdLst/>
            <a:ahLst/>
            <a:cxnLst/>
            <a:rect r="r" b="b" t="t" l="l"/>
            <a:pathLst>
              <a:path h="165097" w="6357556">
                <a:moveTo>
                  <a:pt x="0" y="0"/>
                </a:moveTo>
                <a:lnTo>
                  <a:pt x="6357556" y="0"/>
                </a:lnTo>
                <a:lnTo>
                  <a:pt x="6357556" y="165096"/>
                </a:lnTo>
                <a:lnTo>
                  <a:pt x="0" y="1650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5197" y="5835634"/>
            <a:ext cx="16357597" cy="165097"/>
          </a:xfrm>
          <a:custGeom>
            <a:avLst/>
            <a:gdLst/>
            <a:ahLst/>
            <a:cxnLst/>
            <a:rect r="r" b="b" t="t" l="l"/>
            <a:pathLst>
              <a:path h="165097" w="16357597">
                <a:moveTo>
                  <a:pt x="0" y="0"/>
                </a:moveTo>
                <a:lnTo>
                  <a:pt x="16357597" y="0"/>
                </a:lnTo>
                <a:lnTo>
                  <a:pt x="16357597" y="165097"/>
                </a:lnTo>
                <a:lnTo>
                  <a:pt x="0" y="165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81334" y="3333760"/>
            <a:ext cx="6357556" cy="165097"/>
          </a:xfrm>
          <a:custGeom>
            <a:avLst/>
            <a:gdLst/>
            <a:ahLst/>
            <a:cxnLst/>
            <a:rect r="r" b="b" t="t" l="l"/>
            <a:pathLst>
              <a:path h="165097" w="6357556">
                <a:moveTo>
                  <a:pt x="0" y="0"/>
                </a:moveTo>
                <a:lnTo>
                  <a:pt x="6357557" y="0"/>
                </a:lnTo>
                <a:lnTo>
                  <a:pt x="6357557" y="165096"/>
                </a:lnTo>
                <a:lnTo>
                  <a:pt x="0" y="1650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100446" y="9046926"/>
            <a:ext cx="1567180" cy="37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-06-2026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607" y="3867845"/>
            <a:ext cx="15276252" cy="135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b="true" sz="3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</a:t>
            </a:r>
            <a:r>
              <a:rPr lang="en-US" b="true" sz="3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nception et déploiement d’une infrastructure Cloud privée hyperconvergée basée sur des technologies open source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69040" y="1154030"/>
            <a:ext cx="1182287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7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Ministére de l’Enseignement Supérieur et de la Recherche Scientifique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33278" y="1797558"/>
            <a:ext cx="1002143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7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Université des sciences et technologies Houari Boumédiene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08177" y="2445258"/>
            <a:ext cx="394877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7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Faculté d’informatique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8471" y="6639373"/>
            <a:ext cx="6092857" cy="152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Présenté par : </a:t>
            </a:r>
          </a:p>
          <a:p>
            <a:pPr algn="l" marL="613718" indent="-306859" lvl="1">
              <a:lnSpc>
                <a:spcPts val="3979"/>
              </a:lnSpc>
              <a:buFont typeface="Arial"/>
              <a:buChar char="•"/>
            </a:pPr>
            <a:r>
              <a:rPr lang="en-US" sz="2842" spc="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Bouzara Zakaria</a:t>
            </a:r>
          </a:p>
          <a:p>
            <a:pPr algn="l" marL="613718" indent="-306859" lvl="1">
              <a:lnSpc>
                <a:spcPts val="3979"/>
              </a:lnSpc>
              <a:buFont typeface="Arial"/>
              <a:buChar char="•"/>
            </a:pPr>
            <a:r>
              <a:rPr lang="en-US" sz="2842" spc="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Ouacherine Ilyes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00108" y="3189789"/>
            <a:ext cx="1337905" cy="5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b="true" sz="2842" spc="85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Thème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66347" y="6633067"/>
            <a:ext cx="4627978" cy="51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Enc</a:t>
            </a:r>
            <a:r>
              <a:rPr lang="en-US" b="true" sz="2842" spc="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adrants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66347" y="7065693"/>
            <a:ext cx="5492953" cy="152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696" indent="-306848" lvl="1">
              <a:lnSpc>
                <a:spcPts val="3979"/>
              </a:lnSpc>
              <a:buFont typeface="Arial"/>
              <a:buChar char="•"/>
            </a:pPr>
            <a:r>
              <a:rPr lang="en-US" sz="2842" spc="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Prof. Merazka Fatiha</a:t>
            </a:r>
          </a:p>
          <a:p>
            <a:pPr algn="l" marL="613696" indent="-306848" lvl="1">
              <a:lnSpc>
                <a:spcPts val="3979"/>
              </a:lnSpc>
              <a:buFont typeface="Arial"/>
              <a:buChar char="•"/>
            </a:pPr>
            <a:r>
              <a:rPr lang="en-US" sz="2842" spc="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Mr. Neffah Mohammed</a:t>
            </a:r>
          </a:p>
          <a:p>
            <a:pPr algn="l">
              <a:lnSpc>
                <a:spcPts val="39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1142781"/>
            <a:ext cx="5999578" cy="7999438"/>
            <a:chOff x="0" y="0"/>
            <a:chExt cx="7999438" cy="106659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99476" cy="10665968"/>
            </a:xfrm>
            <a:custGeom>
              <a:avLst/>
              <a:gdLst/>
              <a:ahLst/>
              <a:cxnLst/>
              <a:rect r="r" b="b" t="t" l="l"/>
              <a:pathLst>
                <a:path h="10665968" w="7999476">
                  <a:moveTo>
                    <a:pt x="0" y="0"/>
                  </a:moveTo>
                  <a:lnTo>
                    <a:pt x="7999476" y="0"/>
                  </a:lnTo>
                  <a:lnTo>
                    <a:pt x="7999476" y="10665968"/>
                  </a:lnTo>
                  <a:lnTo>
                    <a:pt x="0" y="10665968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142640" y="3428333"/>
            <a:ext cx="1142781" cy="1142781"/>
          </a:xfrm>
          <a:custGeom>
            <a:avLst/>
            <a:gdLst/>
            <a:ahLst/>
            <a:cxnLst/>
            <a:rect r="r" b="b" t="t" l="l"/>
            <a:pathLst>
              <a:path h="1142781" w="1142781">
                <a:moveTo>
                  <a:pt x="0" y="0"/>
                </a:moveTo>
                <a:lnTo>
                  <a:pt x="1142781" y="0"/>
                </a:lnTo>
                <a:lnTo>
                  <a:pt x="1142781" y="1142781"/>
                </a:lnTo>
                <a:lnTo>
                  <a:pt x="0" y="11427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8474" y="4856797"/>
            <a:ext cx="4856797" cy="857079"/>
            <a:chOff x="0" y="0"/>
            <a:chExt cx="6475730" cy="11427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75735" cy="1142777"/>
            </a:xfrm>
            <a:custGeom>
              <a:avLst/>
              <a:gdLst/>
              <a:ahLst/>
              <a:cxnLst/>
              <a:rect r="r" b="b" t="t" l="l"/>
              <a:pathLst>
                <a:path h="1142777" w="6475735">
                  <a:moveTo>
                    <a:pt x="0" y="0"/>
                  </a:moveTo>
                  <a:lnTo>
                    <a:pt x="6475735" y="0"/>
                  </a:lnTo>
                  <a:lnTo>
                    <a:pt x="6475735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415" r="0" b="-604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6475730" cy="1276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74"/>
                </a:lnSpc>
              </a:pPr>
              <a:r>
                <a:rPr lang="en-US" sz="5398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PLAN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13745" y="1428474"/>
            <a:ext cx="9427912" cy="999925"/>
            <a:chOff x="0" y="0"/>
            <a:chExt cx="12570549" cy="1333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70587" cy="1333246"/>
            </a:xfrm>
            <a:custGeom>
              <a:avLst/>
              <a:gdLst/>
              <a:ahLst/>
              <a:cxnLst/>
              <a:rect r="r" b="b" t="t" l="l"/>
              <a:pathLst>
                <a:path h="1333246" w="12570587">
                  <a:moveTo>
                    <a:pt x="0" y="0"/>
                  </a:moveTo>
                  <a:lnTo>
                    <a:pt x="12570587" y="0"/>
                  </a:lnTo>
                  <a:lnTo>
                    <a:pt x="12570587" y="1333246"/>
                  </a:lnTo>
                  <a:lnTo>
                    <a:pt x="0" y="13332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99438" y="1742732"/>
            <a:ext cx="199987" cy="199987"/>
            <a:chOff x="0" y="0"/>
            <a:chExt cx="266649" cy="2666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133350" y="26670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427977" y="1428474"/>
            <a:ext cx="8285131" cy="999925"/>
            <a:chOff x="0" y="0"/>
            <a:chExt cx="11046841" cy="1333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46843" cy="1333240"/>
            </a:xfrm>
            <a:custGeom>
              <a:avLst/>
              <a:gdLst/>
              <a:ahLst/>
              <a:cxnLst/>
              <a:rect r="r" b="b" t="t" l="l"/>
              <a:pathLst>
                <a:path h="1333240" w="11046843">
                  <a:moveTo>
                    <a:pt x="0" y="0"/>
                  </a:moveTo>
                  <a:lnTo>
                    <a:pt x="11046843" y="0"/>
                  </a:lnTo>
                  <a:lnTo>
                    <a:pt x="11046843" y="1333240"/>
                  </a:lnTo>
                  <a:lnTo>
                    <a:pt x="0" y="1333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046841" cy="139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01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Introduction et Contexte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85131" y="2714092"/>
            <a:ext cx="8856516" cy="999925"/>
            <a:chOff x="0" y="0"/>
            <a:chExt cx="11808689" cy="13332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808714" cy="1333246"/>
            </a:xfrm>
            <a:custGeom>
              <a:avLst/>
              <a:gdLst/>
              <a:ahLst/>
              <a:cxnLst/>
              <a:rect r="r" b="b" t="t" l="l"/>
              <a:pathLst>
                <a:path h="1333246" w="11808714">
                  <a:moveTo>
                    <a:pt x="0" y="0"/>
                  </a:moveTo>
                  <a:lnTo>
                    <a:pt x="11808714" y="0"/>
                  </a:lnTo>
                  <a:lnTo>
                    <a:pt x="11808714" y="1333246"/>
                  </a:lnTo>
                  <a:lnTo>
                    <a:pt x="0" y="13332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70824" y="3028359"/>
            <a:ext cx="199987" cy="199987"/>
            <a:chOff x="0" y="0"/>
            <a:chExt cx="266649" cy="2666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133350" y="26670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999363" y="2714092"/>
            <a:ext cx="7713745" cy="999925"/>
            <a:chOff x="0" y="0"/>
            <a:chExt cx="10284993" cy="13332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84992" cy="1333240"/>
            </a:xfrm>
            <a:custGeom>
              <a:avLst/>
              <a:gdLst/>
              <a:ahLst/>
              <a:cxnLst/>
              <a:rect r="r" b="b" t="t" l="l"/>
              <a:pathLst>
                <a:path h="1333240" w="10284992">
                  <a:moveTo>
                    <a:pt x="0" y="0"/>
                  </a:moveTo>
                  <a:lnTo>
                    <a:pt x="10284992" y="0"/>
                  </a:lnTo>
                  <a:lnTo>
                    <a:pt x="10284992" y="1333240"/>
                  </a:lnTo>
                  <a:lnTo>
                    <a:pt x="0" y="13332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313" r="0" b="-10031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0284993" cy="1390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02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Etat de l'Art et Solutions HCI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56516" y="3999719"/>
            <a:ext cx="8285131" cy="999925"/>
            <a:chOff x="0" y="0"/>
            <a:chExt cx="11046841" cy="13332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46841" cy="1333246"/>
            </a:xfrm>
            <a:custGeom>
              <a:avLst/>
              <a:gdLst/>
              <a:ahLst/>
              <a:cxnLst/>
              <a:rect r="r" b="b" t="t" l="l"/>
              <a:pathLst>
                <a:path h="1333246" w="11046841">
                  <a:moveTo>
                    <a:pt x="0" y="0"/>
                  </a:moveTo>
                  <a:lnTo>
                    <a:pt x="11046841" y="0"/>
                  </a:lnTo>
                  <a:lnTo>
                    <a:pt x="11046841" y="1333246"/>
                  </a:lnTo>
                  <a:lnTo>
                    <a:pt x="0" y="13332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2219" y="4313987"/>
            <a:ext cx="199987" cy="199987"/>
            <a:chOff x="0" y="0"/>
            <a:chExt cx="266649" cy="26664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133350" y="26670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570758" y="3999719"/>
            <a:ext cx="7142359" cy="999930"/>
            <a:chOff x="0" y="0"/>
            <a:chExt cx="9523146" cy="1333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3140" cy="1333246"/>
            </a:xfrm>
            <a:custGeom>
              <a:avLst/>
              <a:gdLst/>
              <a:ahLst/>
              <a:cxnLst/>
              <a:rect r="r" b="b" t="t" l="l"/>
              <a:pathLst>
                <a:path h="1333246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178" r="0" b="-8917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9523146" cy="1390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03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Conception et Implementation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85131" y="5285346"/>
            <a:ext cx="8856516" cy="999925"/>
            <a:chOff x="0" y="0"/>
            <a:chExt cx="11808689" cy="133323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08714" cy="1333246"/>
            </a:xfrm>
            <a:custGeom>
              <a:avLst/>
              <a:gdLst/>
              <a:ahLst/>
              <a:cxnLst/>
              <a:rect r="r" b="b" t="t" l="l"/>
              <a:pathLst>
                <a:path h="1333246" w="11808714">
                  <a:moveTo>
                    <a:pt x="0" y="0"/>
                  </a:moveTo>
                  <a:lnTo>
                    <a:pt x="11808714" y="0"/>
                  </a:lnTo>
                  <a:lnTo>
                    <a:pt x="11808714" y="1333246"/>
                  </a:lnTo>
                  <a:lnTo>
                    <a:pt x="0" y="13332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0824" y="5599605"/>
            <a:ext cx="199987" cy="199987"/>
            <a:chOff x="0" y="0"/>
            <a:chExt cx="266649" cy="2666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133350" y="26670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999363" y="5285346"/>
            <a:ext cx="7713745" cy="999930"/>
            <a:chOff x="0" y="0"/>
            <a:chExt cx="10284993" cy="1333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84992" cy="1333246"/>
            </a:xfrm>
            <a:custGeom>
              <a:avLst/>
              <a:gdLst/>
              <a:ahLst/>
              <a:cxnLst/>
              <a:rect r="r" b="b" t="t" l="l"/>
              <a:pathLst>
                <a:path h="1333246" w="10284992">
                  <a:moveTo>
                    <a:pt x="0" y="0"/>
                  </a:moveTo>
                  <a:lnTo>
                    <a:pt x="10284992" y="0"/>
                  </a:lnTo>
                  <a:lnTo>
                    <a:pt x="10284992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312" r="0" b="-10031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0284993" cy="1390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04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Resultats et Validation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713745" y="6570964"/>
            <a:ext cx="9427912" cy="999925"/>
            <a:chOff x="0" y="0"/>
            <a:chExt cx="12570549" cy="13332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70587" cy="1333246"/>
            </a:xfrm>
            <a:custGeom>
              <a:avLst/>
              <a:gdLst/>
              <a:ahLst/>
              <a:cxnLst/>
              <a:rect r="r" b="b" t="t" l="l"/>
              <a:pathLst>
                <a:path h="1333246" w="12570587">
                  <a:moveTo>
                    <a:pt x="0" y="0"/>
                  </a:moveTo>
                  <a:lnTo>
                    <a:pt x="12570587" y="0"/>
                  </a:lnTo>
                  <a:lnTo>
                    <a:pt x="12570587" y="1333246"/>
                  </a:lnTo>
                  <a:lnTo>
                    <a:pt x="0" y="13332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999438" y="6885232"/>
            <a:ext cx="199987" cy="199987"/>
            <a:chOff x="0" y="0"/>
            <a:chExt cx="266649" cy="26664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133350"/>
                  </a:moveTo>
                  <a:lnTo>
                    <a:pt x="133350" y="0"/>
                  </a:lnTo>
                  <a:lnTo>
                    <a:pt x="266700" y="133350"/>
                  </a:lnTo>
                  <a:lnTo>
                    <a:pt x="133350" y="26670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427977" y="6570964"/>
            <a:ext cx="8285131" cy="999930"/>
            <a:chOff x="0" y="0"/>
            <a:chExt cx="11046841" cy="1333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046843" cy="1333246"/>
            </a:xfrm>
            <a:custGeom>
              <a:avLst/>
              <a:gdLst/>
              <a:ahLst/>
              <a:cxnLst/>
              <a:rect r="r" b="b" t="t" l="l"/>
              <a:pathLst>
                <a:path h="1333246" w="11046843">
                  <a:moveTo>
                    <a:pt x="0" y="0"/>
                  </a:moveTo>
                  <a:lnTo>
                    <a:pt x="11046843" y="0"/>
                  </a:lnTo>
                  <a:lnTo>
                    <a:pt x="11046843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1447" r="0" b="-1114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1046841" cy="1390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05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Conclusion et Perspectives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092288" y="2421255"/>
            <a:ext cx="585673" cy="585673"/>
            <a:chOff x="0" y="0"/>
            <a:chExt cx="780898" cy="78089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80923" cy="780923"/>
            </a:xfrm>
            <a:custGeom>
              <a:avLst/>
              <a:gdLst/>
              <a:ahLst/>
              <a:cxnLst/>
              <a:rect r="r" b="b" t="t" l="l"/>
              <a:pathLst>
                <a:path h="780923" w="780923">
                  <a:moveTo>
                    <a:pt x="0" y="0"/>
                  </a:moveTo>
                  <a:lnTo>
                    <a:pt x="780923" y="780923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-78301" t="0" r="-78297" b="3"/>
              </a:stretch>
            </a:blipFill>
            <a:ln w="14285" cap="sq">
              <a:solidFill>
                <a:srgbClr val="E2E5ED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663673" y="3706882"/>
            <a:ext cx="585673" cy="585673"/>
            <a:chOff x="0" y="0"/>
            <a:chExt cx="780898" cy="78089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0923" cy="780923"/>
            </a:xfrm>
            <a:custGeom>
              <a:avLst/>
              <a:gdLst/>
              <a:ahLst/>
              <a:cxnLst/>
              <a:rect r="r" b="b" t="t" l="l"/>
              <a:pathLst>
                <a:path h="780923" w="780923">
                  <a:moveTo>
                    <a:pt x="0" y="0"/>
                  </a:moveTo>
                  <a:lnTo>
                    <a:pt x="780923" y="780923"/>
                  </a:lnTo>
                </a:path>
              </a:pathLst>
            </a:custGeom>
            <a:blipFill>
              <a:blip r:embed="rId5">
                <a:alphaModFix amt="0"/>
              </a:blip>
              <a:stretch>
                <a:fillRect l="-78301" t="0" r="-78297" b="3"/>
              </a:stretch>
            </a:blipFill>
            <a:ln w="14285" cap="sq">
              <a:solidFill>
                <a:srgbClr val="E2E5ED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271" y="3142640"/>
            <a:ext cx="5713886" cy="1142781"/>
            <a:chOff x="0" y="0"/>
            <a:chExt cx="7618514" cy="1523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512" cy="1523702"/>
            </a:xfrm>
            <a:custGeom>
              <a:avLst/>
              <a:gdLst/>
              <a:ahLst/>
              <a:cxnLst/>
              <a:rect r="r" b="b" t="t" l="l"/>
              <a:pathLst>
                <a:path h="1523702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7618514" cy="171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61"/>
                </a:lnSpc>
              </a:pPr>
              <a:r>
                <a:rPr lang="en-US" sz="8098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99859" y="4571105"/>
            <a:ext cx="14284709" cy="857079"/>
            <a:chOff x="0" y="0"/>
            <a:chExt cx="19046279" cy="11427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279" cy="1142777"/>
            </a:xfrm>
            <a:custGeom>
              <a:avLst/>
              <a:gdLst/>
              <a:ahLst/>
              <a:cxnLst/>
              <a:rect r="r" b="b" t="t" l="l"/>
              <a:pathLst>
                <a:path h="1142777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9046279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0"/>
                </a:lnSpc>
              </a:pPr>
              <a:r>
                <a:rPr lang="en-US" b="true" sz="4049" spc="224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INTRODUCTION ET CONTEXTE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28333" y="5713886"/>
            <a:ext cx="11427771" cy="571386"/>
            <a:chOff x="0" y="0"/>
            <a:chExt cx="15237028" cy="761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Contexte, problematique et objectifs du projet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3745" y="6570964"/>
            <a:ext cx="2856938" cy="42853"/>
            <a:chOff x="0" y="0"/>
            <a:chExt cx="3809251" cy="57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09238" cy="57150"/>
            </a:xfrm>
            <a:custGeom>
              <a:avLst/>
              <a:gdLst/>
              <a:ahLst/>
              <a:cxnLst/>
              <a:rect r="r" b="b" t="t" l="l"/>
              <a:pathLst>
                <a:path h="5715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9999297" cy="642814"/>
            <a:chOff x="0" y="0"/>
            <a:chExt cx="13332396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396" cy="857083"/>
            </a:xfrm>
            <a:custGeom>
              <a:avLst/>
              <a:gdLst/>
              <a:ahLst/>
              <a:cxnLst/>
              <a:rect r="r" b="b" t="t" l="l"/>
              <a:pathLst>
                <a:path h="857083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332396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CONTEXTE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666268"/>
            <a:ext cx="7428052" cy="3901686"/>
            <a:chOff x="0" y="0"/>
            <a:chExt cx="11727576" cy="61600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27588" cy="6160054"/>
            </a:xfrm>
            <a:custGeom>
              <a:avLst/>
              <a:gdLst/>
              <a:ahLst/>
              <a:cxnLst/>
              <a:rect r="r" b="b" t="t" l="l"/>
              <a:pathLst>
                <a:path h="6160054" w="11727588">
                  <a:moveTo>
                    <a:pt x="0" y="0"/>
                  </a:moveTo>
                  <a:lnTo>
                    <a:pt x="11727588" y="0"/>
                  </a:lnTo>
                  <a:lnTo>
                    <a:pt x="11727588" y="6160054"/>
                  </a:lnTo>
                  <a:lnTo>
                    <a:pt x="0" y="6160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708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85131" y="1571320"/>
            <a:ext cx="9142219" cy="1714167"/>
            <a:chOff x="0" y="0"/>
            <a:chExt cx="12189625" cy="22855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89587" cy="2285492"/>
            </a:xfrm>
            <a:custGeom>
              <a:avLst/>
              <a:gdLst/>
              <a:ahLst/>
              <a:cxnLst/>
              <a:rect r="r" b="b" t="t" l="l"/>
              <a:pathLst>
                <a:path h="2285492" w="12189587">
                  <a:moveTo>
                    <a:pt x="0" y="0"/>
                  </a:moveTo>
                  <a:lnTo>
                    <a:pt x="12189587" y="0"/>
                  </a:lnTo>
                  <a:lnTo>
                    <a:pt x="12189587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570824" y="2071287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356484" y="1714167"/>
            <a:ext cx="7785164" cy="1428474"/>
            <a:chOff x="0" y="0"/>
            <a:chExt cx="10380218" cy="19046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80223" cy="1904628"/>
            </a:xfrm>
            <a:custGeom>
              <a:avLst/>
              <a:gdLst/>
              <a:ahLst/>
              <a:cxnLst/>
              <a:rect r="r" b="b" t="t" l="l"/>
              <a:pathLst>
                <a:path h="1904628" w="10380223">
                  <a:moveTo>
                    <a:pt x="0" y="0"/>
                  </a:moveTo>
                  <a:lnTo>
                    <a:pt x="10380223" y="0"/>
                  </a:lnTo>
                  <a:lnTo>
                    <a:pt x="10380223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0380218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Infrastructure IT de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Sonatrach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utilisant Nutanix et VMware vSAN en production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85131" y="3571180"/>
            <a:ext cx="9142219" cy="1714167"/>
            <a:chOff x="0" y="0"/>
            <a:chExt cx="12189625" cy="2285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89587" cy="2285492"/>
            </a:xfrm>
            <a:custGeom>
              <a:avLst/>
              <a:gdLst/>
              <a:ahLst/>
              <a:cxnLst/>
              <a:rect r="r" b="b" t="t" l="l"/>
              <a:pathLst>
                <a:path h="2285492" w="12189587">
                  <a:moveTo>
                    <a:pt x="0" y="0"/>
                  </a:moveTo>
                  <a:lnTo>
                    <a:pt x="12189587" y="0"/>
                  </a:lnTo>
                  <a:lnTo>
                    <a:pt x="12189587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570824" y="4071147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9356484" y="3714026"/>
            <a:ext cx="7785164" cy="1428474"/>
            <a:chOff x="0" y="0"/>
            <a:chExt cx="10380218" cy="1904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80223" cy="1904628"/>
            </a:xfrm>
            <a:custGeom>
              <a:avLst/>
              <a:gdLst/>
              <a:ahLst/>
              <a:cxnLst/>
              <a:rect r="r" b="b" t="t" l="l"/>
              <a:pathLst>
                <a:path h="1904628" w="10380223">
                  <a:moveTo>
                    <a:pt x="0" y="0"/>
                  </a:moveTo>
                  <a:lnTo>
                    <a:pt x="10380223" y="0"/>
                  </a:lnTo>
                  <a:lnTo>
                    <a:pt x="10380223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193" r="0" b="-5619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10380218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Solutions proprietaires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performantes mais couteuses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pour les environnements de test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85131" y="5637771"/>
            <a:ext cx="8974169" cy="1714167"/>
            <a:chOff x="0" y="0"/>
            <a:chExt cx="11965559" cy="22855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65560" cy="2285492"/>
            </a:xfrm>
            <a:custGeom>
              <a:avLst/>
              <a:gdLst/>
              <a:ahLst/>
              <a:cxnLst/>
              <a:rect r="r" b="b" t="t" l="l"/>
              <a:pathLst>
                <a:path h="2285492" w="11965560">
                  <a:moveTo>
                    <a:pt x="0" y="0"/>
                  </a:moveTo>
                  <a:lnTo>
                    <a:pt x="11965560" y="0"/>
                  </a:lnTo>
                  <a:lnTo>
                    <a:pt x="11965560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8572614" y="6067916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356484" y="5637771"/>
            <a:ext cx="6928085" cy="1428474"/>
            <a:chOff x="0" y="0"/>
            <a:chExt cx="9237447" cy="1904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37445" cy="1904628"/>
            </a:xfrm>
            <a:custGeom>
              <a:avLst/>
              <a:gdLst/>
              <a:ahLst/>
              <a:cxnLst/>
              <a:rect r="r" b="b" t="t" l="l"/>
              <a:pathLst>
                <a:path h="1904628" w="9237445">
                  <a:moveTo>
                    <a:pt x="0" y="0"/>
                  </a:moveTo>
                  <a:lnTo>
                    <a:pt x="9237445" y="0"/>
                  </a:lnTo>
                  <a:lnTo>
                    <a:pt x="9237445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9237447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Besoin d'une alternative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open source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pour les environnements de test et R&amp;D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079" y="5637771"/>
            <a:ext cx="7218502" cy="1714167"/>
            <a:chOff x="0" y="0"/>
            <a:chExt cx="9624670" cy="22855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24721" cy="2285492"/>
            </a:xfrm>
            <a:custGeom>
              <a:avLst/>
              <a:gdLst/>
              <a:ahLst/>
              <a:cxnLst/>
              <a:rect r="r" b="b" t="t" l="l"/>
              <a:pathLst>
                <a:path h="2285492" w="9624721">
                  <a:moveTo>
                    <a:pt x="0" y="0"/>
                  </a:moveTo>
                  <a:lnTo>
                    <a:pt x="9624721" y="0"/>
                  </a:lnTo>
                  <a:lnTo>
                    <a:pt x="9624721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114322" y="6209162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895258" y="5994890"/>
            <a:ext cx="5859666" cy="999930"/>
            <a:chOff x="0" y="0"/>
            <a:chExt cx="7812888" cy="1333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12885" cy="1333246"/>
            </a:xfrm>
            <a:custGeom>
              <a:avLst/>
              <a:gdLst/>
              <a:ahLst/>
              <a:cxnLst/>
              <a:rect r="r" b="b" t="t" l="l"/>
              <a:pathLst>
                <a:path h="1333246" w="7812885">
                  <a:moveTo>
                    <a:pt x="0" y="0"/>
                  </a:moveTo>
                  <a:lnTo>
                    <a:pt x="7812885" y="0"/>
                  </a:lnTo>
                  <a:lnTo>
                    <a:pt x="7812885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436" r="-13357" b="-794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04775"/>
              <a:ext cx="7812888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 serveurs Dell PowerEdge R720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deployes pour ce projet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9999297" cy="642814"/>
            <a:chOff x="0" y="0"/>
            <a:chExt cx="13332396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396" cy="857083"/>
            </a:xfrm>
            <a:custGeom>
              <a:avLst/>
              <a:gdLst/>
              <a:ahLst/>
              <a:cxnLst/>
              <a:rect r="r" b="b" t="t" l="l"/>
              <a:pathLst>
                <a:path h="857083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332396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PROBLEMATIQUE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99859" y="2285552"/>
            <a:ext cx="14284709" cy="3999719"/>
            <a:chOff x="0" y="0"/>
            <a:chExt cx="19046279" cy="53329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317" cy="5332984"/>
            </a:xfrm>
            <a:custGeom>
              <a:avLst/>
              <a:gdLst/>
              <a:ahLst/>
              <a:cxnLst/>
              <a:rect r="r" b="b" t="t" l="l"/>
              <a:pathLst>
                <a:path h="5332984" w="19046317">
                  <a:moveTo>
                    <a:pt x="0" y="0"/>
                  </a:moveTo>
                  <a:lnTo>
                    <a:pt x="19046317" y="0"/>
                  </a:lnTo>
                  <a:lnTo>
                    <a:pt x="19046317" y="5332984"/>
                  </a:lnTo>
                  <a:lnTo>
                    <a:pt x="0" y="5332984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571245" y="2571245"/>
            <a:ext cx="13141938" cy="3428330"/>
            <a:chOff x="0" y="0"/>
            <a:chExt cx="17522584" cy="45711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522579" cy="4571103"/>
            </a:xfrm>
            <a:custGeom>
              <a:avLst/>
              <a:gdLst/>
              <a:ahLst/>
              <a:cxnLst/>
              <a:rect r="r" b="b" t="t" l="l"/>
              <a:pathLst>
                <a:path h="4571103" w="17522579">
                  <a:moveTo>
                    <a:pt x="0" y="0"/>
                  </a:moveTo>
                  <a:lnTo>
                    <a:pt x="17522579" y="0"/>
                  </a:lnTo>
                  <a:lnTo>
                    <a:pt x="17522579" y="4571103"/>
                  </a:lnTo>
                  <a:lnTo>
                    <a:pt x="0" y="45711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92" r="0" b="-2469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80975"/>
              <a:ext cx="17522584" cy="47520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Comment concevoir et déployer une infrastructure Cloud privée hyperconvergée, basée sur des techn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gies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open source, capable de répondre aux exigences de fiabilité, de performance et de scalabilité d’une grande entreprise i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dus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tr</a:t>
              </a:r>
              <a:r>
                <a:rPr lang="en-US" sz="247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ielle, tout en constituant une alternative crédible et souveraine aux solutions propriétaires de type Nutanix ?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213708" y="1214199"/>
            <a:ext cx="1428474" cy="1428474"/>
          </a:xfrm>
          <a:custGeom>
            <a:avLst/>
            <a:gdLst/>
            <a:ahLst/>
            <a:cxnLst/>
            <a:rect r="r" b="b" t="t" l="l"/>
            <a:pathLst>
              <a:path h="1428474" w="1428474">
                <a:moveTo>
                  <a:pt x="0" y="0"/>
                </a:moveTo>
                <a:lnTo>
                  <a:pt x="1428473" y="0"/>
                </a:lnTo>
                <a:lnTo>
                  <a:pt x="1428473" y="1428474"/>
                </a:lnTo>
                <a:lnTo>
                  <a:pt x="0" y="1428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7079" y="6856657"/>
            <a:ext cx="4285412" cy="499967"/>
            <a:chOff x="0" y="0"/>
            <a:chExt cx="5713882" cy="66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13884" cy="666620"/>
            </a:xfrm>
            <a:custGeom>
              <a:avLst/>
              <a:gdLst/>
              <a:ahLst/>
              <a:cxnLst/>
              <a:rect r="r" b="b" t="t" l="l"/>
              <a:pathLst>
                <a:path h="666620" w="5713884">
                  <a:moveTo>
                    <a:pt x="0" y="0"/>
                  </a:moveTo>
                  <a:lnTo>
                    <a:pt x="5713884" y="0"/>
                  </a:lnTo>
                  <a:lnTo>
                    <a:pt x="5713884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713882" cy="7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3"/>
                </a:lnSpc>
              </a:pPr>
              <a:r>
                <a:rPr lang="en-US" sz="2474" b="true">
                  <a:solidFill>
                    <a:srgbClr val="5A5A5A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Enjeux cles :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42781" y="7713745"/>
            <a:ext cx="428539" cy="428539"/>
          </a:xfrm>
          <a:custGeom>
            <a:avLst/>
            <a:gdLst/>
            <a:ahLst/>
            <a:cxnLst/>
            <a:rect r="r" b="b" t="t" l="l"/>
            <a:pathLst>
              <a:path h="428539" w="428539">
                <a:moveTo>
                  <a:pt x="0" y="0"/>
                </a:moveTo>
                <a:lnTo>
                  <a:pt x="428539" y="0"/>
                </a:lnTo>
                <a:lnTo>
                  <a:pt x="428539" y="428539"/>
                </a:lnTo>
                <a:lnTo>
                  <a:pt x="0" y="428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714167" y="7642317"/>
            <a:ext cx="2856938" cy="571386"/>
            <a:chOff x="0" y="0"/>
            <a:chExt cx="3809251" cy="7618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09256" cy="761851"/>
            </a:xfrm>
            <a:custGeom>
              <a:avLst/>
              <a:gdLst/>
              <a:ahLst/>
              <a:cxnLst/>
              <a:rect r="r" b="b" t="t" l="l"/>
              <a:pathLst>
                <a:path h="761851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3809251" cy="866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Haute disponibilite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035947" y="7767688"/>
            <a:ext cx="320654" cy="320654"/>
          </a:xfrm>
          <a:custGeom>
            <a:avLst/>
            <a:gdLst/>
            <a:ahLst/>
            <a:cxnLst/>
            <a:rect r="r" b="b" t="t" l="l"/>
            <a:pathLst>
              <a:path h="320654" w="320654">
                <a:moveTo>
                  <a:pt x="0" y="0"/>
                </a:moveTo>
                <a:lnTo>
                  <a:pt x="320653" y="0"/>
                </a:lnTo>
                <a:lnTo>
                  <a:pt x="320653" y="320653"/>
                </a:lnTo>
                <a:lnTo>
                  <a:pt x="0" y="3206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499475" y="7713745"/>
            <a:ext cx="2856938" cy="571386"/>
            <a:chOff x="0" y="0"/>
            <a:chExt cx="3809251" cy="7618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09256" cy="761851"/>
            </a:xfrm>
            <a:custGeom>
              <a:avLst/>
              <a:gdLst/>
              <a:ahLst/>
              <a:cxnLst/>
              <a:rect r="r" b="b" t="t" l="l"/>
              <a:pathLst>
                <a:path h="761851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3809251" cy="866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Facilite de gestion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713323" y="7713745"/>
            <a:ext cx="428539" cy="428539"/>
          </a:xfrm>
          <a:custGeom>
            <a:avLst/>
            <a:gdLst/>
            <a:ahLst/>
            <a:cxnLst/>
            <a:rect r="r" b="b" t="t" l="l"/>
            <a:pathLst>
              <a:path h="428539" w="428539">
                <a:moveTo>
                  <a:pt x="0" y="0"/>
                </a:moveTo>
                <a:lnTo>
                  <a:pt x="428540" y="0"/>
                </a:lnTo>
                <a:lnTo>
                  <a:pt x="428540" y="428539"/>
                </a:lnTo>
                <a:lnTo>
                  <a:pt x="0" y="428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4284709" y="7642317"/>
            <a:ext cx="2856938" cy="571386"/>
            <a:chOff x="0" y="0"/>
            <a:chExt cx="3809251" cy="7618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9256" cy="761851"/>
            </a:xfrm>
            <a:custGeom>
              <a:avLst/>
              <a:gdLst/>
              <a:ahLst/>
              <a:cxnLst/>
              <a:rect r="r" b="b" t="t" l="l"/>
              <a:pathLst>
                <a:path h="761851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3809251" cy="8666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Reduction des couts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05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9999297" cy="642814"/>
            <a:chOff x="0" y="0"/>
            <a:chExt cx="13332396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396" cy="857083"/>
            </a:xfrm>
            <a:custGeom>
              <a:avLst/>
              <a:gdLst/>
              <a:ahLst/>
              <a:cxnLst/>
              <a:rect r="r" b="b" t="t" l="l"/>
              <a:pathLst>
                <a:path h="857083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332396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OBJECTIFS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2643678"/>
            <a:ext cx="5285346" cy="2285552"/>
            <a:chOff x="0" y="0"/>
            <a:chExt cx="7047128" cy="30474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71353" y="2786524"/>
            <a:ext cx="714232" cy="571386"/>
            <a:chOff x="0" y="0"/>
            <a:chExt cx="952310" cy="761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57013" y="2786524"/>
            <a:ext cx="4071147" cy="1999859"/>
            <a:chOff x="0" y="0"/>
            <a:chExt cx="5428196" cy="26664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5428196" cy="2771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Dépl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oyer un cluster de trois nœuds physiques à haute disp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nibilité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99546" y="2643678"/>
            <a:ext cx="5285346" cy="2285552"/>
            <a:chOff x="0" y="0"/>
            <a:chExt cx="7047128" cy="30474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13811" y="2786524"/>
            <a:ext cx="714232" cy="571386"/>
            <a:chOff x="0" y="0"/>
            <a:chExt cx="952310" cy="7618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99471" y="2786524"/>
            <a:ext cx="4071147" cy="1999859"/>
            <a:chOff x="0" y="0"/>
            <a:chExt cx="5428196" cy="26664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5428196" cy="2771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Mettre en 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place un système de stockage distribué 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Ceph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42003" y="2643678"/>
            <a:ext cx="5285346" cy="2285552"/>
            <a:chOff x="0" y="0"/>
            <a:chExt cx="7047128" cy="30474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356278" y="2786524"/>
            <a:ext cx="714232" cy="571386"/>
            <a:chOff x="0" y="0"/>
            <a:chExt cx="952310" cy="7618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41938" y="2786524"/>
            <a:ext cx="4071147" cy="1999859"/>
            <a:chOff x="0" y="0"/>
            <a:chExt cx="5428196" cy="26664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5428196" cy="2771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Deployer la virtualisation reseau avec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OVS et VXLAN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7079" y="5357770"/>
            <a:ext cx="5285346" cy="2285552"/>
            <a:chOff x="0" y="0"/>
            <a:chExt cx="7047128" cy="30474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71353" y="5500616"/>
            <a:ext cx="714232" cy="571386"/>
            <a:chOff x="0" y="0"/>
            <a:chExt cx="952310" cy="7618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57013" y="5500616"/>
            <a:ext cx="4071147" cy="1999859"/>
            <a:chOff x="0" y="0"/>
            <a:chExt cx="5428196" cy="26664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5428196" cy="2771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Développ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er un mécanisme d’équilibrage dynamique d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la charg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,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99546" y="5357770"/>
            <a:ext cx="5285346" cy="2285552"/>
            <a:chOff x="0" y="0"/>
            <a:chExt cx="7047128" cy="30474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713811" y="5500616"/>
            <a:ext cx="714232" cy="571386"/>
            <a:chOff x="0" y="0"/>
            <a:chExt cx="952310" cy="7618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99471" y="5500616"/>
            <a:ext cx="4071147" cy="1999859"/>
            <a:chOff x="0" y="0"/>
            <a:chExt cx="5428196" cy="266647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5428196" cy="2771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alider la solution à travers un scénario de haute disponibilité 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142003" y="5357770"/>
            <a:ext cx="5285346" cy="2285552"/>
            <a:chOff x="0" y="0"/>
            <a:chExt cx="7047128" cy="30474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56278" y="5500616"/>
            <a:ext cx="714232" cy="571386"/>
            <a:chOff x="0" y="0"/>
            <a:chExt cx="952310" cy="7618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141938" y="5500616"/>
            <a:ext cx="4071147" cy="1999859"/>
            <a:chOff x="0" y="0"/>
            <a:chExt cx="5428196" cy="26664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5428196" cy="27712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Fournir un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base d’infrastructure évolutive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271" y="3142640"/>
            <a:ext cx="5713886" cy="1142781"/>
            <a:chOff x="0" y="0"/>
            <a:chExt cx="7618514" cy="1523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512" cy="1523702"/>
            </a:xfrm>
            <a:custGeom>
              <a:avLst/>
              <a:gdLst/>
              <a:ahLst/>
              <a:cxnLst/>
              <a:rect r="r" b="b" t="t" l="l"/>
              <a:pathLst>
                <a:path h="1523702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7618514" cy="171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61"/>
                </a:lnSpc>
              </a:pPr>
              <a:r>
                <a:rPr lang="en-US" sz="8098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627" y="4571105"/>
            <a:ext cx="15713183" cy="857079"/>
            <a:chOff x="0" y="0"/>
            <a:chExt cx="20950911" cy="11427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50909" cy="1142777"/>
            </a:xfrm>
            <a:custGeom>
              <a:avLst/>
              <a:gdLst/>
              <a:ahLst/>
              <a:cxnLst/>
              <a:rect r="r" b="b" t="t" l="l"/>
              <a:pathLst>
                <a:path h="1142777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0950911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0"/>
                </a:lnSpc>
              </a:pPr>
              <a:r>
                <a:rPr lang="en-US" b="true" sz="4049" spc="224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ETAT DE L'ART ET SOLUTIONS HCI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28333" y="5713886"/>
            <a:ext cx="11427771" cy="571386"/>
            <a:chOff x="0" y="0"/>
            <a:chExt cx="15237028" cy="761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Definitions, comparaisons et choix technologique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3745" y="6570964"/>
            <a:ext cx="2856938" cy="42853"/>
            <a:chOff x="0" y="0"/>
            <a:chExt cx="3809251" cy="57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09238" cy="57150"/>
            </a:xfrm>
            <a:custGeom>
              <a:avLst/>
              <a:gdLst/>
              <a:ahLst/>
              <a:cxnLst/>
              <a:rect r="r" b="b" t="t" l="l"/>
              <a:pathLst>
                <a:path h="5715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3"/>
            </a:xfrm>
            <a:custGeom>
              <a:avLst/>
              <a:gdLst/>
              <a:ahLst/>
              <a:cxnLst/>
              <a:rect r="r" b="b" t="t" l="l"/>
              <a:pathLst>
                <a:path h="857083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DEFINITION DE L'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HYPERCONVERGENCE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05533" y="7096083"/>
            <a:ext cx="14044823" cy="1264198"/>
            <a:chOff x="0" y="0"/>
            <a:chExt cx="6448133" cy="580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48127" cy="580405"/>
            </a:xfrm>
            <a:custGeom>
              <a:avLst/>
              <a:gdLst/>
              <a:ahLst/>
              <a:cxnLst/>
              <a:rect r="r" b="b" t="t" l="l"/>
              <a:pathLst>
                <a:path h="580405" w="6448127">
                  <a:moveTo>
                    <a:pt x="0" y="0"/>
                  </a:moveTo>
                  <a:lnTo>
                    <a:pt x="6448127" y="0"/>
                  </a:lnTo>
                  <a:lnTo>
                    <a:pt x="6448127" y="580405"/>
                  </a:lnTo>
                  <a:lnTo>
                    <a:pt x="0" y="580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623" r="29109" b="-1272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448133" cy="6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87"/>
                </a:lnSpc>
              </a:pPr>
              <a:r>
                <a:rPr lang="en-US" sz="2074" b="true">
                  <a:solidFill>
                    <a:srgbClr val="5A5A5A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L'hyperconvergence, ou HCI, est une architecture qui regroupe dans un même système le calcul, le stockage et le réseau, pilotés par une couche logicielle centralisée.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08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277315" y="1565415"/>
            <a:ext cx="11301259" cy="4577010"/>
          </a:xfrm>
          <a:custGeom>
            <a:avLst/>
            <a:gdLst/>
            <a:ahLst/>
            <a:cxnLst/>
            <a:rect r="r" b="b" t="t" l="l"/>
            <a:pathLst>
              <a:path h="4577010" w="11301259">
                <a:moveTo>
                  <a:pt x="0" y="0"/>
                </a:moveTo>
                <a:lnTo>
                  <a:pt x="11301259" y="0"/>
                </a:lnTo>
                <a:lnTo>
                  <a:pt x="11301259" y="4577010"/>
                </a:lnTo>
                <a:lnTo>
                  <a:pt x="0" y="4577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4284709" cy="642814"/>
            <a:chOff x="0" y="0"/>
            <a:chExt cx="19046279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46279" cy="857083"/>
            </a:xfrm>
            <a:custGeom>
              <a:avLst/>
              <a:gdLst/>
              <a:ahLst/>
              <a:cxnLst/>
              <a:rect r="r" b="b" t="t" l="l"/>
              <a:pathLst>
                <a:path h="857083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0" r="0" b="-3830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9046279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INFRASTRUCTURE TRADITIONNELLE VS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HCI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57076" y="1572840"/>
          <a:ext cx="16570264" cy="6722832"/>
        </p:xfrm>
        <a:graphic>
          <a:graphicData uri="http://schemas.openxmlformats.org/drawingml/2006/table">
            <a:tbl>
              <a:tblPr/>
              <a:tblGrid>
                <a:gridCol w="4149672"/>
                <a:gridCol w="6210296"/>
                <a:gridCol w="6210296"/>
              </a:tblGrid>
              <a:tr h="9239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Critere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Traditionnelle (3-Tiers)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Hyperconvergee (HCI)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</a:tr>
              <a:tr h="9628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Architecture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Silos separes : serveurs, stockage SAN/NAS, reseau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Ressources unifiees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 sur des serveurs standards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00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Gestion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Multiple outils, equipes specialisees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Interface unique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, administration centralisee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9106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Cout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CAPEX eleve + licences proprietaires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Materiel standard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 + open source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0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Évolutivité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V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erticale (mise à niveau du matériel)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Ho</a:t>
                      </a: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rizontale 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(ajout de nœuds)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3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Complexité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Hau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F</a:t>
                      </a: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aible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759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Haute disponibilité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Optionn</a:t>
                      </a:r>
                      <a:r>
                        <a:rPr lang="en-US" sz="17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elle et complexe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5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N</a:t>
                      </a:r>
                      <a:r>
                        <a:rPr lang="en-US" sz="1799" b="true">
                          <a:solidFill>
                            <a:srgbClr val="3B6EC9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ative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57079" y="8654312"/>
            <a:ext cx="16570262" cy="857079"/>
            <a:chOff x="0" y="0"/>
            <a:chExt cx="22093682" cy="11427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3682" cy="1142746"/>
            </a:xfrm>
            <a:custGeom>
              <a:avLst/>
              <a:gdLst/>
              <a:ahLst/>
              <a:cxnLst/>
              <a:rect r="r" b="b" t="t" l="l"/>
              <a:pathLst>
                <a:path h="1142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142746"/>
                  </a:lnTo>
                  <a:lnTo>
                    <a:pt x="0" y="1142746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2781" y="8725731"/>
            <a:ext cx="15998876" cy="714232"/>
            <a:chOff x="0" y="0"/>
            <a:chExt cx="21331834" cy="9523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1834" cy="952314"/>
            </a:xfrm>
            <a:custGeom>
              <a:avLst/>
              <a:gdLst/>
              <a:ahLst/>
              <a:cxnLst/>
              <a:rect r="r" b="b" t="t" l="l"/>
              <a:pathLst>
                <a:path h="952314" w="21331834">
                  <a:moveTo>
                    <a:pt x="0" y="0"/>
                  </a:moveTo>
                  <a:lnTo>
                    <a:pt x="21331834" y="0"/>
                  </a:lnTo>
                  <a:lnTo>
                    <a:pt x="21331834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465" r="0" b="-38646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331834" cy="10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L'HCI reduit la complexite, les couts et le temps de deploiement tout en ameliorant la scalabilite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09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5713183" cy="642814"/>
            <a:chOff x="0" y="0"/>
            <a:chExt cx="20950911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50909" cy="857083"/>
            </a:xfrm>
            <a:custGeom>
              <a:avLst/>
              <a:gdLst/>
              <a:ahLst/>
              <a:cxnLst/>
              <a:rect r="r" b="b" t="t" l="l"/>
              <a:pathLst>
                <a:path h="857083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6300" r="0" b="-4263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0950911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SOLUTIONS HCI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OPEN SOURCE</a:t>
              </a:r>
              <a:r>
                <a:rPr lang="en-US" sz="3374" spc="112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ET PROPRIETAIRES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571320"/>
            <a:ext cx="7999438" cy="642814"/>
            <a:chOff x="0" y="0"/>
            <a:chExt cx="10665917" cy="8570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5968" cy="857123"/>
            </a:xfrm>
            <a:custGeom>
              <a:avLst/>
              <a:gdLst/>
              <a:ahLst/>
              <a:cxnLst/>
              <a:rect r="r" b="b" t="t" l="l"/>
              <a:pathLst>
                <a:path h="857123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857123"/>
                  </a:lnTo>
                  <a:lnTo>
                    <a:pt x="0" y="857123"/>
                  </a:lnTo>
                  <a:close/>
                </a:path>
              </a:pathLst>
            </a:custGeom>
            <a:solidFill>
              <a:srgbClr val="5A5A5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1571320"/>
            <a:ext cx="7999438" cy="642814"/>
            <a:chOff x="0" y="0"/>
            <a:chExt cx="10665917" cy="8570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5917" cy="857083"/>
            </a:xfrm>
            <a:custGeom>
              <a:avLst/>
              <a:gdLst/>
              <a:ahLst/>
              <a:cxnLst/>
              <a:rect r="r" b="b" t="t" l="l"/>
              <a:pathLst>
                <a:path h="857083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480" r="0" b="-1924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665917" cy="914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Solutions Proprietaires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2428399"/>
            <a:ext cx="7999438" cy="1142781"/>
            <a:chOff x="0" y="0"/>
            <a:chExt cx="10665917" cy="15237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57013" y="2499827"/>
            <a:ext cx="6713811" cy="999930"/>
            <a:chOff x="0" y="0"/>
            <a:chExt cx="8951747" cy="1333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Coûts de licence élevés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079" y="3785445"/>
            <a:ext cx="7999438" cy="1142781"/>
            <a:chOff x="0" y="0"/>
            <a:chExt cx="10665917" cy="15237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857013" y="3856873"/>
            <a:ext cx="6713811" cy="999930"/>
            <a:chOff x="0" y="0"/>
            <a:chExt cx="8951747" cy="1333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Dépend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ance fournisseur 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(VendorLock 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7079" y="5142500"/>
            <a:ext cx="7999438" cy="1142781"/>
            <a:chOff x="0" y="0"/>
            <a:chExt cx="10665917" cy="1523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079" y="6494831"/>
            <a:ext cx="7999438" cy="1142781"/>
            <a:chOff x="0" y="0"/>
            <a:chExt cx="10665917" cy="15237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7079" y="7847162"/>
            <a:ext cx="7999438" cy="1142781"/>
            <a:chOff x="0" y="0"/>
            <a:chExt cx="10665917" cy="15237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42781" y="6780524"/>
            <a:ext cx="514245" cy="514245"/>
          </a:xfrm>
          <a:custGeom>
            <a:avLst/>
            <a:gdLst/>
            <a:ahLst/>
            <a:cxnLst/>
            <a:rect r="r" b="b" t="t" l="l"/>
            <a:pathLst>
              <a:path h="514245" w="514245">
                <a:moveTo>
                  <a:pt x="0" y="0"/>
                </a:moveTo>
                <a:lnTo>
                  <a:pt x="514245" y="0"/>
                </a:lnTo>
                <a:lnTo>
                  <a:pt x="514245" y="514245"/>
                </a:lnTo>
                <a:lnTo>
                  <a:pt x="0" y="51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857013" y="5213918"/>
            <a:ext cx="6713811" cy="999930"/>
            <a:chOff x="0" y="0"/>
            <a:chExt cx="8951747" cy="1333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Support commercial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857013" y="6566249"/>
            <a:ext cx="6713811" cy="999930"/>
            <a:chOff x="0" y="0"/>
            <a:chExt cx="8951747" cy="1333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Intégration complète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57013" y="7918580"/>
            <a:ext cx="6713811" cy="999930"/>
            <a:chOff x="0" y="0"/>
            <a:chExt cx="8951747" cy="1333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Complexité modérée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27912" y="1571320"/>
            <a:ext cx="7999438" cy="642814"/>
            <a:chOff x="0" y="0"/>
            <a:chExt cx="10665917" cy="85708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65968" cy="857123"/>
            </a:xfrm>
            <a:custGeom>
              <a:avLst/>
              <a:gdLst/>
              <a:ahLst/>
              <a:cxnLst/>
              <a:rect r="r" b="b" t="t" l="l"/>
              <a:pathLst>
                <a:path h="857123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857123"/>
                  </a:lnTo>
                  <a:lnTo>
                    <a:pt x="0" y="85712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27912" y="1571320"/>
            <a:ext cx="7999438" cy="642814"/>
            <a:chOff x="0" y="0"/>
            <a:chExt cx="10665917" cy="8570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65917" cy="857083"/>
            </a:xfrm>
            <a:custGeom>
              <a:avLst/>
              <a:gdLst/>
              <a:ahLst/>
              <a:cxnLst/>
              <a:rect r="r" b="b" t="t" l="l"/>
              <a:pathLst>
                <a:path h="857083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480" r="0" b="-1924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665917" cy="914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Solutions Open Source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27912" y="3780732"/>
            <a:ext cx="7999438" cy="1142781"/>
            <a:chOff x="0" y="0"/>
            <a:chExt cx="10665917" cy="15237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427837" y="3852160"/>
            <a:ext cx="6713811" cy="999930"/>
            <a:chOff x="0" y="0"/>
            <a:chExt cx="8951747" cy="1333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Indépendance technologique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27912" y="2428401"/>
            <a:ext cx="7999438" cy="1142781"/>
            <a:chOff x="0" y="0"/>
            <a:chExt cx="10665917" cy="15237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427837" y="2499827"/>
            <a:ext cx="6713811" cy="999930"/>
            <a:chOff x="0" y="0"/>
            <a:chExt cx="8951747" cy="13332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Abs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ence de coûts de licence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27912" y="5142500"/>
            <a:ext cx="7999438" cy="1142781"/>
            <a:chOff x="0" y="0"/>
            <a:chExt cx="10665917" cy="15237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427912" y="6494824"/>
            <a:ext cx="7999438" cy="1142781"/>
            <a:chOff x="0" y="0"/>
            <a:chExt cx="10665917" cy="15237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427912" y="7847162"/>
            <a:ext cx="7999438" cy="1142781"/>
            <a:chOff x="0" y="0"/>
            <a:chExt cx="10665917" cy="15237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9713605" y="8132855"/>
            <a:ext cx="514245" cy="514245"/>
          </a:xfrm>
          <a:custGeom>
            <a:avLst/>
            <a:gdLst/>
            <a:ahLst/>
            <a:cxnLst/>
            <a:rect r="r" b="b" t="t" l="l"/>
            <a:pathLst>
              <a:path h="514245" w="514245">
                <a:moveTo>
                  <a:pt x="0" y="0"/>
                </a:moveTo>
                <a:lnTo>
                  <a:pt x="514245" y="0"/>
                </a:lnTo>
                <a:lnTo>
                  <a:pt x="514245" y="514245"/>
                </a:lnTo>
                <a:lnTo>
                  <a:pt x="0" y="514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0427837" y="5213918"/>
            <a:ext cx="6713811" cy="999930"/>
            <a:chOff x="0" y="0"/>
            <a:chExt cx="8951747" cy="1333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Support communautaire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427837" y="6566242"/>
            <a:ext cx="6713811" cy="999930"/>
            <a:chOff x="0" y="0"/>
            <a:chExt cx="8951747" cy="13332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Flexibilité maximale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427837" y="7918580"/>
            <a:ext cx="6713811" cy="999930"/>
            <a:chOff x="0" y="0"/>
            <a:chExt cx="8951747" cy="1333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951751" cy="1333246"/>
            </a:xfrm>
            <a:custGeom>
              <a:avLst/>
              <a:gdLst/>
              <a:ahLst/>
              <a:cxnLst/>
              <a:rect r="r" b="b" t="t" l="l"/>
              <a:pathLst>
                <a:path h="1333246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1333246"/>
                  </a:lnTo>
                  <a:lnTo>
                    <a:pt x="0" y="133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7" r="0" b="-8082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04775"/>
              <a:ext cx="8951747" cy="1438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Complexité variable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10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142781" y="2714103"/>
            <a:ext cx="514207" cy="514207"/>
          </a:xfrm>
          <a:custGeom>
            <a:avLst/>
            <a:gdLst/>
            <a:ahLst/>
            <a:cxnLst/>
            <a:rect r="r" b="b" t="t" l="l"/>
            <a:pathLst>
              <a:path h="514207" w="514207">
                <a:moveTo>
                  <a:pt x="0" y="0"/>
                </a:moveTo>
                <a:lnTo>
                  <a:pt x="514207" y="0"/>
                </a:lnTo>
                <a:lnTo>
                  <a:pt x="514207" y="514208"/>
                </a:lnTo>
                <a:lnTo>
                  <a:pt x="0" y="5142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9713605" y="2771225"/>
            <a:ext cx="514207" cy="514207"/>
          </a:xfrm>
          <a:custGeom>
            <a:avLst/>
            <a:gdLst/>
            <a:ahLst/>
            <a:cxnLst/>
            <a:rect r="r" b="b" t="t" l="l"/>
            <a:pathLst>
              <a:path h="514207" w="514207">
                <a:moveTo>
                  <a:pt x="0" y="0"/>
                </a:moveTo>
                <a:lnTo>
                  <a:pt x="514207" y="0"/>
                </a:lnTo>
                <a:lnTo>
                  <a:pt x="514207" y="514207"/>
                </a:lnTo>
                <a:lnTo>
                  <a:pt x="0" y="5142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185257" y="4018072"/>
            <a:ext cx="429255" cy="581503"/>
          </a:xfrm>
          <a:custGeom>
            <a:avLst/>
            <a:gdLst/>
            <a:ahLst/>
            <a:cxnLst/>
            <a:rect r="r" b="b" t="t" l="l"/>
            <a:pathLst>
              <a:path h="581503" w="429255">
                <a:moveTo>
                  <a:pt x="0" y="0"/>
                </a:moveTo>
                <a:lnTo>
                  <a:pt x="429255" y="0"/>
                </a:lnTo>
                <a:lnTo>
                  <a:pt x="429255" y="581503"/>
                </a:lnTo>
                <a:lnTo>
                  <a:pt x="0" y="5815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9713605" y="4048092"/>
            <a:ext cx="514207" cy="617498"/>
          </a:xfrm>
          <a:custGeom>
            <a:avLst/>
            <a:gdLst/>
            <a:ahLst/>
            <a:cxnLst/>
            <a:rect r="r" b="b" t="t" l="l"/>
            <a:pathLst>
              <a:path h="617498" w="514207">
                <a:moveTo>
                  <a:pt x="0" y="0"/>
                </a:moveTo>
                <a:lnTo>
                  <a:pt x="514207" y="0"/>
                </a:lnTo>
                <a:lnTo>
                  <a:pt x="514207" y="617498"/>
                </a:lnTo>
                <a:lnTo>
                  <a:pt x="0" y="617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9713605" y="5422930"/>
            <a:ext cx="514207" cy="581922"/>
          </a:xfrm>
          <a:custGeom>
            <a:avLst/>
            <a:gdLst/>
            <a:ahLst/>
            <a:cxnLst/>
            <a:rect r="r" b="b" t="t" l="l"/>
            <a:pathLst>
              <a:path h="581922" w="514207">
                <a:moveTo>
                  <a:pt x="0" y="0"/>
                </a:moveTo>
                <a:lnTo>
                  <a:pt x="514207" y="0"/>
                </a:lnTo>
                <a:lnTo>
                  <a:pt x="514207" y="581921"/>
                </a:lnTo>
                <a:lnTo>
                  <a:pt x="0" y="5819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1142781" y="5470343"/>
            <a:ext cx="514207" cy="487094"/>
          </a:xfrm>
          <a:custGeom>
            <a:avLst/>
            <a:gdLst/>
            <a:ahLst/>
            <a:cxnLst/>
            <a:rect r="r" b="b" t="t" l="l"/>
            <a:pathLst>
              <a:path h="487094" w="514207">
                <a:moveTo>
                  <a:pt x="0" y="0"/>
                </a:moveTo>
                <a:lnTo>
                  <a:pt x="514207" y="0"/>
                </a:lnTo>
                <a:lnTo>
                  <a:pt x="514207" y="487095"/>
                </a:lnTo>
                <a:lnTo>
                  <a:pt x="0" y="48709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9713605" y="6799588"/>
            <a:ext cx="538130" cy="533238"/>
          </a:xfrm>
          <a:custGeom>
            <a:avLst/>
            <a:gdLst/>
            <a:ahLst/>
            <a:cxnLst/>
            <a:rect r="r" b="b" t="t" l="l"/>
            <a:pathLst>
              <a:path h="533238" w="538130">
                <a:moveTo>
                  <a:pt x="0" y="0"/>
                </a:moveTo>
                <a:lnTo>
                  <a:pt x="538130" y="0"/>
                </a:lnTo>
                <a:lnTo>
                  <a:pt x="538130" y="533238"/>
                </a:lnTo>
                <a:lnTo>
                  <a:pt x="0" y="5332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1084599" y="8161149"/>
            <a:ext cx="630608" cy="514806"/>
          </a:xfrm>
          <a:custGeom>
            <a:avLst/>
            <a:gdLst/>
            <a:ahLst/>
            <a:cxnLst/>
            <a:rect r="r" b="b" t="t" l="l"/>
            <a:pathLst>
              <a:path h="514806" w="630608">
                <a:moveTo>
                  <a:pt x="0" y="0"/>
                </a:moveTo>
                <a:lnTo>
                  <a:pt x="630609" y="0"/>
                </a:lnTo>
                <a:lnTo>
                  <a:pt x="630609" y="514806"/>
                </a:lnTo>
                <a:lnTo>
                  <a:pt x="0" y="5148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132897" cy="555175"/>
            <a:chOff x="0" y="0"/>
            <a:chExt cx="16177196" cy="740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77196" cy="740232"/>
            </a:xfrm>
            <a:custGeom>
              <a:avLst/>
              <a:gdLst/>
              <a:ahLst/>
              <a:cxnLst/>
              <a:rect r="r" b="b" t="t" l="l"/>
              <a:pathLst>
                <a:path h="740232" w="16177196">
                  <a:moveTo>
                    <a:pt x="0" y="0"/>
                  </a:moveTo>
                  <a:lnTo>
                    <a:pt x="16177196" y="0"/>
                  </a:lnTo>
                  <a:lnTo>
                    <a:pt x="16177196" y="740232"/>
                  </a:lnTo>
                  <a:lnTo>
                    <a:pt x="0" y="740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054" r="17585" b="-3088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6177196" cy="8259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COMPARAISON DES Solutions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Open Source HCI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57083" y="1499895"/>
          <a:ext cx="16527409" cy="5689600"/>
        </p:xfrm>
        <a:graphic>
          <a:graphicData uri="http://schemas.openxmlformats.org/drawingml/2006/table">
            <a:tbl>
              <a:tblPr/>
              <a:tblGrid>
                <a:gridCol w="3299841"/>
                <a:gridCol w="2645514"/>
                <a:gridCol w="2645514"/>
                <a:gridCol w="2645514"/>
                <a:gridCol w="2645514"/>
                <a:gridCol w="2645514"/>
              </a:tblGrid>
              <a:tr h="1489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Solution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Facilité de déploie ment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Complexite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Flexibilité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Maturité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FFFFFF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Adapté au déploie ment à 3 nœuds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6EC9"/>
                    </a:solidFill>
                  </a:tcPr>
                </a:tc>
              </a:tr>
              <a:tr h="1400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OpenStack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Difficile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Très haute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Très haute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Très mature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Non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0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Harvester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Moyenne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Moyenne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5A5A5A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Haute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En cours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333333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Partiel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14001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 b="true">
                          <a:solidFill>
                            <a:srgbClr val="333333"/>
                          </a:solidFill>
                          <a:latin typeface="Quattrocento Bold"/>
                          <a:ea typeface="Quattrocento Bold"/>
                          <a:cs typeface="Quattrocento Bold"/>
                          <a:sym typeface="Quattrocento Bold"/>
                        </a:rPr>
                        <a:t>Proxmox+Ceph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7AE60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Facile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7AE60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Basse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7AE60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Haute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7AE60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Mature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79"/>
                        </a:lnSpc>
                        <a:defRPr/>
                      </a:pPr>
                      <a:r>
                        <a:rPr lang="en-US" sz="2899">
                          <a:solidFill>
                            <a:srgbClr val="27AE60"/>
                          </a:solidFill>
                          <a:latin typeface="Quattrocento"/>
                          <a:ea typeface="Quattrocento"/>
                          <a:cs typeface="Quattrocento"/>
                          <a:sym typeface="Quattrocento"/>
                        </a:rPr>
                        <a:t>Oui</a:t>
                      </a:r>
                      <a:endParaRPr lang="en-US" sz="1100"/>
                    </a:p>
                  </a:txBody>
                  <a:tcPr marL="54864" marR="54864" marT="54864" marB="54864" anchor="ctr">
                    <a:lnL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2E5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3"/>
            </a:xfrm>
            <a:custGeom>
              <a:avLst/>
              <a:gdLst/>
              <a:ahLst/>
              <a:cxnLst/>
              <a:rect r="r" b="b" t="t" l="l"/>
              <a:pathLst>
                <a:path h="857083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STACK TECHNOLOGIQUE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RETENU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571320"/>
            <a:ext cx="8070866" cy="1142781"/>
            <a:chOff x="0" y="0"/>
            <a:chExt cx="10761154" cy="15237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42781" y="1828448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28432" y="1642739"/>
            <a:ext cx="2856938" cy="428539"/>
            <a:chOff x="0" y="0"/>
            <a:chExt cx="3809251" cy="571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09256" cy="571388"/>
            </a:xfrm>
            <a:custGeom>
              <a:avLst/>
              <a:gdLst/>
              <a:ahLst/>
              <a:cxnLst/>
              <a:rect r="r" b="b" t="t" l="l"/>
              <a:pathLst>
                <a:path h="57138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89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09251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Virtualisation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28432" y="2071287"/>
            <a:ext cx="6713811" cy="499967"/>
            <a:chOff x="0" y="0"/>
            <a:chExt cx="8951747" cy="66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51751" cy="666620"/>
            </a:xfrm>
            <a:custGeom>
              <a:avLst/>
              <a:gdLst/>
              <a:ahLst/>
              <a:cxnLst/>
              <a:rect r="r" b="b" t="t" l="l"/>
              <a:pathLst>
                <a:path h="666620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5" r="0" b="-2116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951747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Proxmox VE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56484" y="1571320"/>
            <a:ext cx="8070866" cy="1142781"/>
            <a:chOff x="0" y="0"/>
            <a:chExt cx="10761154" cy="15237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642177" y="1828448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427837" y="1642739"/>
            <a:ext cx="2856938" cy="428539"/>
            <a:chOff x="0" y="0"/>
            <a:chExt cx="3809251" cy="5713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09256" cy="571388"/>
            </a:xfrm>
            <a:custGeom>
              <a:avLst/>
              <a:gdLst/>
              <a:ahLst/>
              <a:cxnLst/>
              <a:rect r="r" b="b" t="t" l="l"/>
              <a:pathLst>
                <a:path h="57138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89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809251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Stockage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7837" y="2071287"/>
            <a:ext cx="6713811" cy="499967"/>
            <a:chOff x="0" y="0"/>
            <a:chExt cx="8951747" cy="66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951751" cy="666620"/>
            </a:xfrm>
            <a:custGeom>
              <a:avLst/>
              <a:gdLst/>
              <a:ahLst/>
              <a:cxnLst/>
              <a:rect r="r" b="b" t="t" l="l"/>
              <a:pathLst>
                <a:path h="666620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5" r="0" b="-2116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951747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Ceph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7079" y="2999784"/>
            <a:ext cx="8070866" cy="1142781"/>
            <a:chOff x="0" y="0"/>
            <a:chExt cx="10761154" cy="15237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142781" y="3256912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928432" y="3071212"/>
            <a:ext cx="2856938" cy="428539"/>
            <a:chOff x="0" y="0"/>
            <a:chExt cx="3809251" cy="5713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09256" cy="571388"/>
            </a:xfrm>
            <a:custGeom>
              <a:avLst/>
              <a:gdLst/>
              <a:ahLst/>
              <a:cxnLst/>
              <a:rect r="r" b="b" t="t" l="l"/>
              <a:pathLst>
                <a:path h="57138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8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809251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Reseau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28432" y="3499752"/>
            <a:ext cx="6713811" cy="499967"/>
            <a:chOff x="0" y="0"/>
            <a:chExt cx="8951747" cy="666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51751" cy="666620"/>
            </a:xfrm>
            <a:custGeom>
              <a:avLst/>
              <a:gdLst/>
              <a:ahLst/>
              <a:cxnLst/>
              <a:rect r="r" b="b" t="t" l="l"/>
              <a:pathLst>
                <a:path h="666620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5" r="0" b="-2116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8951747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Open vSwitch + VXLAN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56484" y="2999784"/>
            <a:ext cx="8070866" cy="1142781"/>
            <a:chOff x="0" y="0"/>
            <a:chExt cx="10761154" cy="15237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9642177" y="3256912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427837" y="3071212"/>
            <a:ext cx="2856938" cy="428539"/>
            <a:chOff x="0" y="0"/>
            <a:chExt cx="3809251" cy="5713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09256" cy="571388"/>
            </a:xfrm>
            <a:custGeom>
              <a:avLst/>
              <a:gdLst/>
              <a:ahLst/>
              <a:cxnLst/>
              <a:rect r="r" b="b" t="t" l="l"/>
              <a:pathLst>
                <a:path h="57138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89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809251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Securite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27837" y="3499752"/>
            <a:ext cx="6713811" cy="499967"/>
            <a:chOff x="0" y="0"/>
            <a:chExt cx="8951747" cy="66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51751" cy="666620"/>
            </a:xfrm>
            <a:custGeom>
              <a:avLst/>
              <a:gdLst/>
              <a:ahLst/>
              <a:cxnLst/>
              <a:rect r="r" b="b" t="t" l="l"/>
              <a:pathLst>
                <a:path h="666620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5" r="0" b="-2116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951747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OPNsense + Firewall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57079" y="5856732"/>
            <a:ext cx="8070866" cy="1142781"/>
            <a:chOff x="0" y="0"/>
            <a:chExt cx="10761154" cy="15237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58864" y="4428315"/>
            <a:ext cx="8070866" cy="1142781"/>
            <a:chOff x="0" y="0"/>
            <a:chExt cx="10761154" cy="15237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1144567" y="4685443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928432" y="5928160"/>
            <a:ext cx="2856938" cy="428541"/>
            <a:chOff x="0" y="0"/>
            <a:chExt cx="3809251" cy="5713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09256" cy="571391"/>
            </a:xfrm>
            <a:custGeom>
              <a:avLst/>
              <a:gdLst/>
              <a:ahLst/>
              <a:cxnLst/>
              <a:rect r="r" b="b" t="t" l="l"/>
              <a:pathLst>
                <a:path h="571391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899" r="0" b="-7989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809251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Synchronizations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30217" y="4499743"/>
            <a:ext cx="2856938" cy="428541"/>
            <a:chOff x="0" y="0"/>
            <a:chExt cx="3809251" cy="5713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09256" cy="571391"/>
            </a:xfrm>
            <a:custGeom>
              <a:avLst/>
              <a:gdLst/>
              <a:ahLst/>
              <a:cxnLst/>
              <a:rect r="r" b="b" t="t" l="l"/>
              <a:pathLst>
                <a:path h="571391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899" r="0" b="-7989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809251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Monitoring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928431" y="6356699"/>
            <a:ext cx="6713811" cy="499965"/>
            <a:chOff x="0" y="0"/>
            <a:chExt cx="8951747" cy="6666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951751" cy="666617"/>
            </a:xfrm>
            <a:custGeom>
              <a:avLst/>
              <a:gdLst/>
              <a:ahLst/>
              <a:cxnLst/>
              <a:rect r="r" b="b" t="t" l="l"/>
              <a:pathLst>
                <a:path h="666617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17"/>
                  </a:lnTo>
                  <a:lnTo>
                    <a:pt x="0" y="666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8951747" cy="72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Service Chrony (protocole NTP)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30217" y="4928283"/>
            <a:ext cx="6713811" cy="499967"/>
            <a:chOff x="0" y="0"/>
            <a:chExt cx="8951747" cy="66662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51751" cy="666620"/>
            </a:xfrm>
            <a:custGeom>
              <a:avLst/>
              <a:gdLst/>
              <a:ahLst/>
              <a:cxnLst/>
              <a:rect r="r" b="b" t="t" l="l"/>
              <a:pathLst>
                <a:path h="666620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5" r="0" b="-21165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951747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Grafana + Prometheus + InfluxDB + Loki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56484" y="5856732"/>
            <a:ext cx="8070866" cy="1142781"/>
            <a:chOff x="0" y="0"/>
            <a:chExt cx="10761154" cy="15237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358270" y="4428315"/>
            <a:ext cx="8070866" cy="1142781"/>
            <a:chOff x="0" y="0"/>
            <a:chExt cx="10761154" cy="15237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61091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9643962" y="4685443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0427837" y="5928160"/>
            <a:ext cx="2856938" cy="428541"/>
            <a:chOff x="0" y="0"/>
            <a:chExt cx="3809251" cy="5713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809256" cy="571391"/>
            </a:xfrm>
            <a:custGeom>
              <a:avLst/>
              <a:gdLst/>
              <a:ahLst/>
              <a:cxnLst/>
              <a:rect r="r" b="b" t="t" l="l"/>
              <a:pathLst>
                <a:path h="571391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899" r="0" b="-7989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809251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</a:t>
              </a: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ovisionnement Réseau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429623" y="4499743"/>
            <a:ext cx="2856938" cy="428539"/>
            <a:chOff x="0" y="0"/>
            <a:chExt cx="3809251" cy="57138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09256" cy="571388"/>
            </a:xfrm>
            <a:custGeom>
              <a:avLst/>
              <a:gdLst/>
              <a:ahLst/>
              <a:cxnLst/>
              <a:rect r="r" b="b" t="t" l="l"/>
              <a:pathLst>
                <a:path h="57138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89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3809251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Automatisation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427837" y="6356699"/>
            <a:ext cx="6713811" cy="499965"/>
            <a:chOff x="0" y="0"/>
            <a:chExt cx="8951747" cy="6666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951751" cy="666617"/>
            </a:xfrm>
            <a:custGeom>
              <a:avLst/>
              <a:gdLst/>
              <a:ahLst/>
              <a:cxnLst/>
              <a:rect r="r" b="b" t="t" l="l"/>
              <a:pathLst>
                <a:path h="666617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17"/>
                  </a:lnTo>
                  <a:lnTo>
                    <a:pt x="0" y="666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8951747" cy="723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Les protocoles PXE et TFTP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429623" y="4928283"/>
            <a:ext cx="6713811" cy="499967"/>
            <a:chOff x="0" y="0"/>
            <a:chExt cx="8951747" cy="6666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51751" cy="666620"/>
            </a:xfrm>
            <a:custGeom>
              <a:avLst/>
              <a:gdLst/>
              <a:ahLst/>
              <a:cxnLst/>
              <a:rect r="r" b="b" t="t" l="l"/>
              <a:pathLst>
                <a:path h="666620" w="8951751">
                  <a:moveTo>
                    <a:pt x="0" y="0"/>
                  </a:moveTo>
                  <a:lnTo>
                    <a:pt x="8951751" y="0"/>
                  </a:lnTo>
                  <a:lnTo>
                    <a:pt x="8951751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5" r="0" b="-21165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8951747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Ansible + GitLab CI/CD + Rundeck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142500" y="7285206"/>
            <a:ext cx="7999438" cy="1142781"/>
            <a:chOff x="0" y="0"/>
            <a:chExt cx="10665917" cy="15237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665968" cy="1523746"/>
            </a:xfrm>
            <a:custGeom>
              <a:avLst/>
              <a:gdLst/>
              <a:ahLst/>
              <a:cxnLst/>
              <a:rect r="r" b="b" t="t" l="l"/>
              <a:pathLst>
                <a:path h="1523746" w="10665968">
                  <a:moveTo>
                    <a:pt x="0" y="0"/>
                  </a:moveTo>
                  <a:lnTo>
                    <a:pt x="10665968" y="0"/>
                  </a:lnTo>
                  <a:lnTo>
                    <a:pt x="10665968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sp>
        <p:nvSpPr>
          <p:cNvPr name="Freeform 77" id="77"/>
          <p:cNvSpPr/>
          <p:nvPr/>
        </p:nvSpPr>
        <p:spPr>
          <a:xfrm flipH="false" flipV="false" rot="0">
            <a:off x="5499611" y="7542333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6285271" y="7356624"/>
            <a:ext cx="2856938" cy="428539"/>
            <a:chOff x="0" y="0"/>
            <a:chExt cx="3809251" cy="57138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809256" cy="571388"/>
            </a:xfrm>
            <a:custGeom>
              <a:avLst/>
              <a:gdLst/>
              <a:ahLst/>
              <a:cxnLst/>
              <a:rect r="r" b="b" t="t" l="l"/>
              <a:pathLst>
                <a:path h="571388" w="3809256">
                  <a:moveTo>
                    <a:pt x="0" y="0"/>
                  </a:moveTo>
                  <a:lnTo>
                    <a:pt x="3809256" y="0"/>
                  </a:lnTo>
                  <a:lnTo>
                    <a:pt x="3809256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89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809251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7"/>
                </a:lnSpc>
              </a:pPr>
              <a:r>
                <a:rPr lang="en-US" sz="15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Equilibrage de charge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285271" y="7785173"/>
            <a:ext cx="6570964" cy="499967"/>
            <a:chOff x="0" y="0"/>
            <a:chExt cx="8761286" cy="66662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761288" cy="666620"/>
            </a:xfrm>
            <a:custGeom>
              <a:avLst/>
              <a:gdLst/>
              <a:ahLst/>
              <a:cxnLst/>
              <a:rect r="r" b="b" t="t" l="l"/>
              <a:pathLst>
                <a:path h="666620" w="8761288">
                  <a:moveTo>
                    <a:pt x="0" y="0"/>
                  </a:moveTo>
                  <a:lnTo>
                    <a:pt x="8761288" y="0"/>
                  </a:lnTo>
                  <a:lnTo>
                    <a:pt x="8761288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88" r="0" b="-20608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8761286" cy="72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CLBS personnalise (Go)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57079" y="8999372"/>
            <a:ext cx="16570262" cy="714232"/>
            <a:chOff x="0" y="0"/>
            <a:chExt cx="22093682" cy="95231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093686" cy="952314"/>
            </a:xfrm>
            <a:custGeom>
              <a:avLst/>
              <a:gdLst/>
              <a:ahLst/>
              <a:cxnLst/>
              <a:rect r="r" b="b" t="t" l="l"/>
              <a:pathLst>
                <a:path h="952314" w="22093686">
                  <a:moveTo>
                    <a:pt x="0" y="0"/>
                  </a:moveTo>
                  <a:lnTo>
                    <a:pt x="22093686" y="0"/>
                  </a:lnTo>
                  <a:lnTo>
                    <a:pt x="22093686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2053" r="0" b="-40205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33350"/>
              <a:ext cx="22093682" cy="108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49"/>
                </a:lnSpc>
              </a:pP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Stack </a:t>
              </a:r>
              <a:r>
                <a:rPr lang="en-US" sz="22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100% open source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couvrant l'ensemble des besoins infrastructurels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12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1147496" y="6128142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6"/>
                </a:lnTo>
                <a:lnTo>
                  <a:pt x="0" y="57138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9635301" y="6220988"/>
            <a:ext cx="585136" cy="385693"/>
          </a:xfrm>
          <a:custGeom>
            <a:avLst/>
            <a:gdLst/>
            <a:ahLst/>
            <a:cxnLst/>
            <a:rect r="r" b="b" t="t" l="l"/>
            <a:pathLst>
              <a:path h="385693" w="585136">
                <a:moveTo>
                  <a:pt x="0" y="0"/>
                </a:moveTo>
                <a:lnTo>
                  <a:pt x="585137" y="0"/>
                </a:lnTo>
                <a:lnTo>
                  <a:pt x="585137" y="385694"/>
                </a:lnTo>
                <a:lnTo>
                  <a:pt x="0" y="3856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271" y="3142640"/>
            <a:ext cx="5713886" cy="1142781"/>
            <a:chOff x="0" y="0"/>
            <a:chExt cx="7618514" cy="1523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512" cy="1523702"/>
            </a:xfrm>
            <a:custGeom>
              <a:avLst/>
              <a:gdLst/>
              <a:ahLst/>
              <a:cxnLst/>
              <a:rect r="r" b="b" t="t" l="l"/>
              <a:pathLst>
                <a:path h="1523702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7618514" cy="171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61"/>
                </a:lnSpc>
              </a:pPr>
              <a:r>
                <a:rPr lang="en-US" sz="8098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99859" y="4571105"/>
            <a:ext cx="14284709" cy="857083"/>
            <a:chOff x="0" y="0"/>
            <a:chExt cx="19046279" cy="11427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279" cy="1142782"/>
            </a:xfrm>
            <a:custGeom>
              <a:avLst/>
              <a:gdLst/>
              <a:ahLst/>
              <a:cxnLst/>
              <a:rect r="r" b="b" t="t" l="l"/>
              <a:pathLst>
                <a:path h="1142782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49" r="0" b="-274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9046279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0"/>
                </a:lnSpc>
              </a:pPr>
              <a:r>
                <a:rPr lang="en-US" sz="4049" spc="2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Conception et Implementation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28333" y="5713886"/>
            <a:ext cx="11427771" cy="571386"/>
            <a:chOff x="0" y="0"/>
            <a:chExt cx="15237028" cy="761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Architecture globale, couches technique et deploiement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3745" y="6570964"/>
            <a:ext cx="2856938" cy="42853"/>
            <a:chOff x="0" y="0"/>
            <a:chExt cx="3809251" cy="57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09238" cy="57150"/>
            </a:xfrm>
            <a:custGeom>
              <a:avLst/>
              <a:gdLst/>
              <a:ahLst/>
              <a:cxnLst/>
              <a:rect r="r" b="b" t="t" l="l"/>
              <a:pathLst>
                <a:path h="5715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13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9999297" cy="642814"/>
            <a:chOff x="0" y="0"/>
            <a:chExt cx="13332396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396" cy="857083"/>
            </a:xfrm>
            <a:custGeom>
              <a:avLst/>
              <a:gdLst/>
              <a:ahLst/>
              <a:cxnLst/>
              <a:rect r="r" b="b" t="t" l="l"/>
              <a:pathLst>
                <a:path h="857083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332396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ARCHITECTURE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GLOBALE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1330" y="1849869"/>
            <a:ext cx="4585392" cy="3038980"/>
            <a:chOff x="0" y="0"/>
            <a:chExt cx="6113856" cy="40519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13907" cy="4051999"/>
            </a:xfrm>
            <a:custGeom>
              <a:avLst/>
              <a:gdLst/>
              <a:ahLst/>
              <a:cxnLst/>
              <a:rect r="r" b="b" t="t" l="l"/>
              <a:pathLst>
                <a:path h="4051999" w="6113907">
                  <a:moveTo>
                    <a:pt x="0" y="0"/>
                  </a:moveTo>
                  <a:lnTo>
                    <a:pt x="6113907" y="0"/>
                  </a:lnTo>
                  <a:lnTo>
                    <a:pt x="6113907" y="4051999"/>
                  </a:lnTo>
                  <a:lnTo>
                    <a:pt x="0" y="4051999"/>
                  </a:lnTo>
                  <a:close/>
                </a:path>
              </a:pathLst>
            </a:custGeom>
            <a:solidFill>
              <a:srgbClr val="F5F6FA"/>
            </a:solidFill>
            <a:ln w="14285" cap="sq">
              <a:solidFill>
                <a:srgbClr val="3B6EC9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48840" y="6466117"/>
            <a:ext cx="16010893" cy="1901294"/>
          </a:xfrm>
          <a:custGeom>
            <a:avLst/>
            <a:gdLst/>
            <a:ahLst/>
            <a:cxnLst/>
            <a:rect r="r" b="b" t="t" l="l"/>
            <a:pathLst>
              <a:path h="1901294" w="16010893">
                <a:moveTo>
                  <a:pt x="0" y="0"/>
                </a:moveTo>
                <a:lnTo>
                  <a:pt x="16010894" y="0"/>
                </a:lnTo>
                <a:lnTo>
                  <a:pt x="16010894" y="1901293"/>
                </a:lnTo>
                <a:lnTo>
                  <a:pt x="0" y="19012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21330" y="5203174"/>
            <a:ext cx="15441339" cy="1161590"/>
            <a:chOff x="0" y="0"/>
            <a:chExt cx="51315720" cy="3860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315770" cy="3860300"/>
            </a:xfrm>
            <a:custGeom>
              <a:avLst/>
              <a:gdLst/>
              <a:ahLst/>
              <a:cxnLst/>
              <a:rect r="r" b="b" t="t" l="l"/>
              <a:pathLst>
                <a:path h="3860300" w="51315770">
                  <a:moveTo>
                    <a:pt x="86741" y="0"/>
                  </a:moveTo>
                  <a:lnTo>
                    <a:pt x="51229028" y="0"/>
                  </a:lnTo>
                  <a:cubicBezTo>
                    <a:pt x="51252034" y="0"/>
                    <a:pt x="51274098" y="9139"/>
                    <a:pt x="51290364" y="25406"/>
                  </a:cubicBezTo>
                  <a:cubicBezTo>
                    <a:pt x="51306633" y="41673"/>
                    <a:pt x="51315770" y="63736"/>
                    <a:pt x="51315770" y="86741"/>
                  </a:cubicBezTo>
                  <a:lnTo>
                    <a:pt x="51315770" y="3773560"/>
                  </a:lnTo>
                  <a:cubicBezTo>
                    <a:pt x="51315770" y="3796565"/>
                    <a:pt x="51306633" y="3818628"/>
                    <a:pt x="51290364" y="3834895"/>
                  </a:cubicBezTo>
                  <a:cubicBezTo>
                    <a:pt x="51274098" y="3851162"/>
                    <a:pt x="51252034" y="3860300"/>
                    <a:pt x="51229028" y="3860300"/>
                  </a:cubicBezTo>
                  <a:lnTo>
                    <a:pt x="86741" y="3860300"/>
                  </a:lnTo>
                  <a:cubicBezTo>
                    <a:pt x="63736" y="3860300"/>
                    <a:pt x="41673" y="3851162"/>
                    <a:pt x="25406" y="3834895"/>
                  </a:cubicBezTo>
                  <a:cubicBezTo>
                    <a:pt x="9139" y="3818628"/>
                    <a:pt x="0" y="3796565"/>
                    <a:pt x="0" y="3773560"/>
                  </a:cubicBezTo>
                  <a:lnTo>
                    <a:pt x="0" y="86741"/>
                  </a:lnTo>
                  <a:cubicBezTo>
                    <a:pt x="0" y="63736"/>
                    <a:pt x="9139" y="41673"/>
                    <a:pt x="25406" y="25406"/>
                  </a:cubicBezTo>
                  <a:cubicBezTo>
                    <a:pt x="41673" y="9139"/>
                    <a:pt x="63736" y="0"/>
                    <a:pt x="86741" y="0"/>
                  </a:cubicBezTo>
                  <a:close/>
                </a:path>
              </a:pathLst>
            </a:custGeom>
            <a:solidFill>
              <a:srgbClr val="FFDA88"/>
            </a:solidFill>
            <a:ln w="14285" cap="rnd">
              <a:solidFill>
                <a:srgbClr val="FFDA88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25640" y="4369648"/>
            <a:ext cx="4159626" cy="374356"/>
            <a:chOff x="0" y="0"/>
            <a:chExt cx="42893079" cy="38602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893131" cy="3860300"/>
            </a:xfrm>
            <a:custGeom>
              <a:avLst/>
              <a:gdLst/>
              <a:ahLst/>
              <a:cxnLst/>
              <a:rect r="r" b="b" t="t" l="l"/>
              <a:pathLst>
                <a:path h="3860300" w="42893131">
                  <a:moveTo>
                    <a:pt x="139999" y="0"/>
                  </a:moveTo>
                  <a:lnTo>
                    <a:pt x="42753130" y="0"/>
                  </a:lnTo>
                  <a:cubicBezTo>
                    <a:pt x="42830452" y="0"/>
                    <a:pt x="42893131" y="62680"/>
                    <a:pt x="42893131" y="139999"/>
                  </a:cubicBezTo>
                  <a:lnTo>
                    <a:pt x="42893131" y="3720301"/>
                  </a:lnTo>
                  <a:cubicBezTo>
                    <a:pt x="42893131" y="3757431"/>
                    <a:pt x="42878381" y="3793041"/>
                    <a:pt x="42852125" y="3819296"/>
                  </a:cubicBezTo>
                  <a:cubicBezTo>
                    <a:pt x="42825870" y="3845551"/>
                    <a:pt x="42790263" y="3860300"/>
                    <a:pt x="42753130" y="3860300"/>
                  </a:cubicBezTo>
                  <a:lnTo>
                    <a:pt x="139999" y="3860300"/>
                  </a:lnTo>
                  <a:cubicBezTo>
                    <a:pt x="102869" y="3860300"/>
                    <a:pt x="67260" y="3845551"/>
                    <a:pt x="41005" y="3819296"/>
                  </a:cubicBezTo>
                  <a:cubicBezTo>
                    <a:pt x="14750" y="3793041"/>
                    <a:pt x="0" y="3757431"/>
                    <a:pt x="0" y="3720301"/>
                  </a:cubicBezTo>
                  <a:lnTo>
                    <a:pt x="0" y="139999"/>
                  </a:lnTo>
                  <a:cubicBezTo>
                    <a:pt x="0" y="102869"/>
                    <a:pt x="14750" y="67260"/>
                    <a:pt x="41005" y="41005"/>
                  </a:cubicBezTo>
                  <a:cubicBezTo>
                    <a:pt x="67260" y="14750"/>
                    <a:pt x="102869" y="0"/>
                    <a:pt x="139999" y="0"/>
                  </a:cubicBezTo>
                  <a:close/>
                </a:path>
              </a:pathLst>
            </a:custGeom>
            <a:solidFill>
              <a:srgbClr val="D4FAFF"/>
            </a:solidFill>
            <a:ln w="14285" cap="sq">
              <a:solidFill>
                <a:srgbClr val="D4FA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851304" y="1849869"/>
            <a:ext cx="4585392" cy="3038980"/>
            <a:chOff x="0" y="0"/>
            <a:chExt cx="6113856" cy="40519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13907" cy="4051999"/>
            </a:xfrm>
            <a:custGeom>
              <a:avLst/>
              <a:gdLst/>
              <a:ahLst/>
              <a:cxnLst/>
              <a:rect r="r" b="b" t="t" l="l"/>
              <a:pathLst>
                <a:path h="4051999" w="6113907">
                  <a:moveTo>
                    <a:pt x="0" y="0"/>
                  </a:moveTo>
                  <a:lnTo>
                    <a:pt x="6113907" y="0"/>
                  </a:lnTo>
                  <a:lnTo>
                    <a:pt x="6113907" y="4051999"/>
                  </a:lnTo>
                  <a:lnTo>
                    <a:pt x="0" y="4051999"/>
                  </a:lnTo>
                  <a:close/>
                </a:path>
              </a:pathLst>
            </a:custGeom>
            <a:solidFill>
              <a:srgbClr val="F5F6FA"/>
            </a:solidFill>
            <a:ln w="14285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284421" y="1849869"/>
            <a:ext cx="4585392" cy="3038980"/>
            <a:chOff x="0" y="0"/>
            <a:chExt cx="6113856" cy="40519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13907" cy="4051999"/>
            </a:xfrm>
            <a:custGeom>
              <a:avLst/>
              <a:gdLst/>
              <a:ahLst/>
              <a:cxnLst/>
              <a:rect r="r" b="b" t="t" l="l"/>
              <a:pathLst>
                <a:path h="4051999" w="6113907">
                  <a:moveTo>
                    <a:pt x="0" y="0"/>
                  </a:moveTo>
                  <a:lnTo>
                    <a:pt x="6113907" y="0"/>
                  </a:lnTo>
                  <a:lnTo>
                    <a:pt x="6113907" y="4051999"/>
                  </a:lnTo>
                  <a:lnTo>
                    <a:pt x="0" y="4051999"/>
                  </a:lnTo>
                  <a:close/>
                </a:path>
              </a:pathLst>
            </a:custGeom>
            <a:solidFill>
              <a:srgbClr val="F5F6FA"/>
            </a:solidFill>
            <a:ln w="14285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28474" y="1857013"/>
            <a:ext cx="4571105" cy="868056"/>
            <a:chOff x="0" y="0"/>
            <a:chExt cx="6094806" cy="115740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4857" cy="1157433"/>
            </a:xfrm>
            <a:custGeom>
              <a:avLst/>
              <a:gdLst/>
              <a:ahLst/>
              <a:cxnLst/>
              <a:rect r="r" b="b" t="t" l="l"/>
              <a:pathLst>
                <a:path h="1157433" w="6094857">
                  <a:moveTo>
                    <a:pt x="0" y="0"/>
                  </a:moveTo>
                  <a:lnTo>
                    <a:pt x="6094857" y="0"/>
                  </a:lnTo>
                  <a:lnTo>
                    <a:pt x="6094857" y="1157433"/>
                  </a:lnTo>
                  <a:lnTo>
                    <a:pt x="0" y="115743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58448" y="1857013"/>
            <a:ext cx="4571105" cy="868056"/>
            <a:chOff x="0" y="0"/>
            <a:chExt cx="6094806" cy="11574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4857" cy="1157433"/>
            </a:xfrm>
            <a:custGeom>
              <a:avLst/>
              <a:gdLst/>
              <a:ahLst/>
              <a:cxnLst/>
              <a:rect r="r" b="b" t="t" l="l"/>
              <a:pathLst>
                <a:path h="1157433" w="6094857">
                  <a:moveTo>
                    <a:pt x="0" y="0"/>
                  </a:moveTo>
                  <a:lnTo>
                    <a:pt x="6094857" y="0"/>
                  </a:lnTo>
                  <a:lnTo>
                    <a:pt x="6094857" y="1157433"/>
                  </a:lnTo>
                  <a:lnTo>
                    <a:pt x="0" y="115743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91565" y="1857013"/>
            <a:ext cx="4571105" cy="868056"/>
            <a:chOff x="0" y="0"/>
            <a:chExt cx="6094806" cy="11574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4857" cy="1157433"/>
            </a:xfrm>
            <a:custGeom>
              <a:avLst/>
              <a:gdLst/>
              <a:ahLst/>
              <a:cxnLst/>
              <a:rect r="r" b="b" t="t" l="l"/>
              <a:pathLst>
                <a:path h="1157433" w="6094857">
                  <a:moveTo>
                    <a:pt x="0" y="0"/>
                  </a:moveTo>
                  <a:lnTo>
                    <a:pt x="6094857" y="0"/>
                  </a:lnTo>
                  <a:lnTo>
                    <a:pt x="6094857" y="1157433"/>
                  </a:lnTo>
                  <a:lnTo>
                    <a:pt x="0" y="115743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332186" y="1981704"/>
            <a:ext cx="2763680" cy="618673"/>
            <a:chOff x="0" y="0"/>
            <a:chExt cx="3684906" cy="8248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84910" cy="824902"/>
            </a:xfrm>
            <a:custGeom>
              <a:avLst/>
              <a:gdLst/>
              <a:ahLst/>
              <a:cxnLst/>
              <a:rect r="r" b="b" t="t" l="l"/>
              <a:pathLst>
                <a:path h="824902" w="3684910">
                  <a:moveTo>
                    <a:pt x="0" y="0"/>
                  </a:moveTo>
                  <a:lnTo>
                    <a:pt x="3684910" y="0"/>
                  </a:lnTo>
                  <a:lnTo>
                    <a:pt x="3684910" y="824902"/>
                  </a:lnTo>
                  <a:lnTo>
                    <a:pt x="0" y="824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87" r="-65399" b="-901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684906" cy="872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PVE</a:t>
              </a: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-01</a:t>
              </a:r>
            </a:p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192.168.10.100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762160" y="1981704"/>
            <a:ext cx="2763680" cy="618673"/>
            <a:chOff x="0" y="0"/>
            <a:chExt cx="3684906" cy="8248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84910" cy="824902"/>
            </a:xfrm>
            <a:custGeom>
              <a:avLst/>
              <a:gdLst/>
              <a:ahLst/>
              <a:cxnLst/>
              <a:rect r="r" b="b" t="t" l="l"/>
              <a:pathLst>
                <a:path h="824902" w="3684910">
                  <a:moveTo>
                    <a:pt x="0" y="0"/>
                  </a:moveTo>
                  <a:lnTo>
                    <a:pt x="3684910" y="0"/>
                  </a:lnTo>
                  <a:lnTo>
                    <a:pt x="3684910" y="824902"/>
                  </a:lnTo>
                  <a:lnTo>
                    <a:pt x="0" y="824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87" r="-65399" b="-901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684906" cy="872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PVE</a:t>
              </a: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-02</a:t>
              </a:r>
            </a:p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192.168.10.213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195277" y="1981704"/>
            <a:ext cx="2763680" cy="618673"/>
            <a:chOff x="0" y="0"/>
            <a:chExt cx="3684906" cy="8248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84910" cy="824902"/>
            </a:xfrm>
            <a:custGeom>
              <a:avLst/>
              <a:gdLst/>
              <a:ahLst/>
              <a:cxnLst/>
              <a:rect r="r" b="b" t="t" l="l"/>
              <a:pathLst>
                <a:path h="824902" w="3684910">
                  <a:moveTo>
                    <a:pt x="0" y="0"/>
                  </a:moveTo>
                  <a:lnTo>
                    <a:pt x="3684910" y="0"/>
                  </a:lnTo>
                  <a:lnTo>
                    <a:pt x="3684910" y="824902"/>
                  </a:lnTo>
                  <a:lnTo>
                    <a:pt x="0" y="824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87" r="-65399" b="-901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684906" cy="872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PVE</a:t>
              </a: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-03</a:t>
              </a:r>
            </a:p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192.168.10.84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85291" y="4556827"/>
            <a:ext cx="885654" cy="28565"/>
            <a:chOff x="0" y="0"/>
            <a:chExt cx="1180871" cy="3808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80846" cy="38100"/>
            </a:xfrm>
            <a:custGeom>
              <a:avLst/>
              <a:gdLst/>
              <a:ahLst/>
              <a:cxnLst/>
              <a:rect r="r" b="b" t="t" l="l"/>
              <a:pathLst>
                <a:path h="38100" w="1180846">
                  <a:moveTo>
                    <a:pt x="0" y="0"/>
                  </a:moveTo>
                  <a:lnTo>
                    <a:pt x="1180846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553935" r="-2" b="-55390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999578" y="1499892"/>
            <a:ext cx="5999578" cy="314264"/>
            <a:chOff x="0" y="0"/>
            <a:chExt cx="7999438" cy="4190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999437" cy="419013"/>
            </a:xfrm>
            <a:custGeom>
              <a:avLst/>
              <a:gdLst/>
              <a:ahLst/>
              <a:cxnLst/>
              <a:rect r="r" b="b" t="t" l="l"/>
              <a:pathLst>
                <a:path h="419013" w="7999437">
                  <a:moveTo>
                    <a:pt x="0" y="0"/>
                  </a:moveTo>
                  <a:lnTo>
                    <a:pt x="7999437" y="0"/>
                  </a:lnTo>
                  <a:lnTo>
                    <a:pt x="7999437" y="419013"/>
                  </a:lnTo>
                  <a:lnTo>
                    <a:pt x="0" y="419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90" r="0" b="-32199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999438" cy="457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3"/>
                </a:lnSpc>
              </a:pPr>
              <a:r>
                <a:rPr lang="en-US" sz="13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Reseau physique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960888" y="5350372"/>
            <a:ext cx="1223601" cy="810944"/>
            <a:chOff x="0" y="0"/>
            <a:chExt cx="6113856" cy="40519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13907" cy="4051999"/>
            </a:xfrm>
            <a:custGeom>
              <a:avLst/>
              <a:gdLst/>
              <a:ahLst/>
              <a:cxnLst/>
              <a:rect r="r" b="b" t="t" l="l"/>
              <a:pathLst>
                <a:path h="4051999" w="6113907">
                  <a:moveTo>
                    <a:pt x="475927" y="0"/>
                  </a:moveTo>
                  <a:lnTo>
                    <a:pt x="5637980" y="0"/>
                  </a:lnTo>
                  <a:cubicBezTo>
                    <a:pt x="5764204" y="0"/>
                    <a:pt x="5885257" y="50142"/>
                    <a:pt x="5974511" y="139396"/>
                  </a:cubicBezTo>
                  <a:cubicBezTo>
                    <a:pt x="6063765" y="228650"/>
                    <a:pt x="6113907" y="349703"/>
                    <a:pt x="6113907" y="475927"/>
                  </a:cubicBezTo>
                  <a:lnTo>
                    <a:pt x="6113907" y="3576072"/>
                  </a:lnTo>
                  <a:cubicBezTo>
                    <a:pt x="6113907" y="3702295"/>
                    <a:pt x="6063765" y="3823349"/>
                    <a:pt x="5974511" y="3912603"/>
                  </a:cubicBezTo>
                  <a:cubicBezTo>
                    <a:pt x="5885257" y="4001857"/>
                    <a:pt x="5764204" y="4051999"/>
                    <a:pt x="5637980" y="4051999"/>
                  </a:cubicBezTo>
                  <a:lnTo>
                    <a:pt x="475927" y="4051999"/>
                  </a:lnTo>
                  <a:cubicBezTo>
                    <a:pt x="349703" y="4051999"/>
                    <a:pt x="228650" y="4001857"/>
                    <a:pt x="139396" y="3912603"/>
                  </a:cubicBezTo>
                  <a:cubicBezTo>
                    <a:pt x="50142" y="3823349"/>
                    <a:pt x="0" y="3702295"/>
                    <a:pt x="0" y="3576072"/>
                  </a:cubicBezTo>
                  <a:lnTo>
                    <a:pt x="0" y="475927"/>
                  </a:lnTo>
                  <a:cubicBezTo>
                    <a:pt x="0" y="349703"/>
                    <a:pt x="50142" y="228650"/>
                    <a:pt x="139396" y="139396"/>
                  </a:cubicBezTo>
                  <a:cubicBezTo>
                    <a:pt x="228650" y="50142"/>
                    <a:pt x="349703" y="0"/>
                    <a:pt x="475927" y="0"/>
                  </a:cubicBezTo>
                  <a:close/>
                </a:path>
              </a:pathLst>
            </a:custGeom>
            <a:solidFill>
              <a:srgbClr val="FFDA88"/>
            </a:solidFill>
            <a:ln w="28575" cap="sq">
              <a:solidFill>
                <a:srgbClr val="5A5A5A"/>
              </a:solidFill>
              <a:prstDash val="sysDot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956273" y="5350372"/>
            <a:ext cx="1223601" cy="810944"/>
            <a:chOff x="0" y="0"/>
            <a:chExt cx="6113856" cy="405197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13907" cy="4051999"/>
            </a:xfrm>
            <a:custGeom>
              <a:avLst/>
              <a:gdLst/>
              <a:ahLst/>
              <a:cxnLst/>
              <a:rect r="r" b="b" t="t" l="l"/>
              <a:pathLst>
                <a:path h="4051999" w="6113907">
                  <a:moveTo>
                    <a:pt x="475927" y="0"/>
                  </a:moveTo>
                  <a:lnTo>
                    <a:pt x="5637980" y="0"/>
                  </a:lnTo>
                  <a:cubicBezTo>
                    <a:pt x="5764204" y="0"/>
                    <a:pt x="5885257" y="50142"/>
                    <a:pt x="5974511" y="139396"/>
                  </a:cubicBezTo>
                  <a:cubicBezTo>
                    <a:pt x="6063765" y="228650"/>
                    <a:pt x="6113907" y="349703"/>
                    <a:pt x="6113907" y="475927"/>
                  </a:cubicBezTo>
                  <a:lnTo>
                    <a:pt x="6113907" y="3576072"/>
                  </a:lnTo>
                  <a:cubicBezTo>
                    <a:pt x="6113907" y="3702295"/>
                    <a:pt x="6063765" y="3823349"/>
                    <a:pt x="5974511" y="3912603"/>
                  </a:cubicBezTo>
                  <a:cubicBezTo>
                    <a:pt x="5885257" y="4001857"/>
                    <a:pt x="5764204" y="4051999"/>
                    <a:pt x="5637980" y="4051999"/>
                  </a:cubicBezTo>
                  <a:lnTo>
                    <a:pt x="475927" y="4051999"/>
                  </a:lnTo>
                  <a:cubicBezTo>
                    <a:pt x="349703" y="4051999"/>
                    <a:pt x="228650" y="4001857"/>
                    <a:pt x="139396" y="3912603"/>
                  </a:cubicBezTo>
                  <a:cubicBezTo>
                    <a:pt x="50142" y="3823349"/>
                    <a:pt x="0" y="3702295"/>
                    <a:pt x="0" y="3576072"/>
                  </a:cubicBezTo>
                  <a:lnTo>
                    <a:pt x="0" y="475927"/>
                  </a:lnTo>
                  <a:cubicBezTo>
                    <a:pt x="0" y="349703"/>
                    <a:pt x="50142" y="228650"/>
                    <a:pt x="139396" y="139396"/>
                  </a:cubicBezTo>
                  <a:cubicBezTo>
                    <a:pt x="228650" y="50142"/>
                    <a:pt x="349703" y="0"/>
                    <a:pt x="475927" y="0"/>
                  </a:cubicBezTo>
                  <a:close/>
                </a:path>
              </a:pathLst>
            </a:custGeom>
            <a:solidFill>
              <a:srgbClr val="FFDA88"/>
            </a:solidFill>
            <a:ln w="28575" cap="sq">
              <a:solidFill>
                <a:srgbClr val="5A5A5A"/>
              </a:solidFill>
              <a:prstDash val="sysDot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951398" y="5350372"/>
            <a:ext cx="1223601" cy="810944"/>
            <a:chOff x="0" y="0"/>
            <a:chExt cx="6113856" cy="405197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13907" cy="4051999"/>
            </a:xfrm>
            <a:custGeom>
              <a:avLst/>
              <a:gdLst/>
              <a:ahLst/>
              <a:cxnLst/>
              <a:rect r="r" b="b" t="t" l="l"/>
              <a:pathLst>
                <a:path h="4051999" w="6113907">
                  <a:moveTo>
                    <a:pt x="475927" y="0"/>
                  </a:moveTo>
                  <a:lnTo>
                    <a:pt x="5637980" y="0"/>
                  </a:lnTo>
                  <a:cubicBezTo>
                    <a:pt x="5764204" y="0"/>
                    <a:pt x="5885257" y="50142"/>
                    <a:pt x="5974511" y="139396"/>
                  </a:cubicBezTo>
                  <a:cubicBezTo>
                    <a:pt x="6063765" y="228650"/>
                    <a:pt x="6113907" y="349703"/>
                    <a:pt x="6113907" y="475927"/>
                  </a:cubicBezTo>
                  <a:lnTo>
                    <a:pt x="6113907" y="3576072"/>
                  </a:lnTo>
                  <a:cubicBezTo>
                    <a:pt x="6113907" y="3702295"/>
                    <a:pt x="6063765" y="3823349"/>
                    <a:pt x="5974511" y="3912603"/>
                  </a:cubicBezTo>
                  <a:cubicBezTo>
                    <a:pt x="5885257" y="4001857"/>
                    <a:pt x="5764204" y="4051999"/>
                    <a:pt x="5637980" y="4051999"/>
                  </a:cubicBezTo>
                  <a:lnTo>
                    <a:pt x="475927" y="4051999"/>
                  </a:lnTo>
                  <a:cubicBezTo>
                    <a:pt x="349703" y="4051999"/>
                    <a:pt x="228650" y="4001857"/>
                    <a:pt x="139396" y="3912603"/>
                  </a:cubicBezTo>
                  <a:cubicBezTo>
                    <a:pt x="50142" y="3823349"/>
                    <a:pt x="0" y="3702295"/>
                    <a:pt x="0" y="3576072"/>
                  </a:cubicBezTo>
                  <a:lnTo>
                    <a:pt x="0" y="475927"/>
                  </a:lnTo>
                  <a:cubicBezTo>
                    <a:pt x="0" y="349703"/>
                    <a:pt x="50142" y="228650"/>
                    <a:pt x="139396" y="139396"/>
                  </a:cubicBezTo>
                  <a:cubicBezTo>
                    <a:pt x="228650" y="50142"/>
                    <a:pt x="349703" y="0"/>
                    <a:pt x="475927" y="0"/>
                  </a:cubicBezTo>
                  <a:close/>
                </a:path>
              </a:pathLst>
            </a:custGeom>
            <a:solidFill>
              <a:srgbClr val="FFDA88"/>
            </a:solidFill>
            <a:ln w="28575" cap="sq">
              <a:solidFill>
                <a:srgbClr val="5A5A5A"/>
              </a:solidFill>
              <a:prstDash val="sysDot"/>
              <a:miter/>
            </a:ln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1428474" y="8424560"/>
            <a:ext cx="15451626" cy="1004356"/>
          </a:xfrm>
          <a:custGeom>
            <a:avLst/>
            <a:gdLst/>
            <a:ahLst/>
            <a:cxnLst/>
            <a:rect r="r" b="b" t="t" l="l"/>
            <a:pathLst>
              <a:path h="1004356" w="15451626">
                <a:moveTo>
                  <a:pt x="0" y="0"/>
                </a:moveTo>
                <a:lnTo>
                  <a:pt x="15451626" y="0"/>
                </a:lnTo>
                <a:lnTo>
                  <a:pt x="15451626" y="1004356"/>
                </a:lnTo>
                <a:lnTo>
                  <a:pt x="0" y="10043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642701" y="2759307"/>
            <a:ext cx="4142565" cy="14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3B6EC9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Proxmox VE</a:t>
            </a:r>
          </a:p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30BFD3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Ceph MON</a:t>
            </a:r>
          </a:p>
          <a:p>
            <a:pPr algn="l">
              <a:lnSpc>
                <a:spcPts val="3023"/>
              </a:lnSpc>
            </a:pPr>
            <a:r>
              <a:rPr lang="en-US" sz="1574" b="true">
                <a:solidFill>
                  <a:srgbClr val="F39C1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◆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Ceph OSD (×4) </a:t>
            </a:r>
          </a:p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27AE60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OVS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72674" y="2759307"/>
            <a:ext cx="4142565" cy="18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3B6EC9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Proxmox VE</a:t>
            </a:r>
          </a:p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30BFD3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Ceph MON</a:t>
            </a:r>
          </a:p>
          <a:p>
            <a:pPr algn="l">
              <a:lnSpc>
                <a:spcPts val="3023"/>
              </a:lnSpc>
            </a:pP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◆ Ceph MGR (active)</a:t>
            </a:r>
          </a:p>
          <a:p>
            <a:pPr algn="l">
              <a:lnSpc>
                <a:spcPts val="3023"/>
              </a:lnSpc>
            </a:pPr>
            <a:r>
              <a:rPr lang="en-US" sz="1574" b="true">
                <a:solidFill>
                  <a:srgbClr val="F39C1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◆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Ceph OSD (×4) </a:t>
            </a:r>
          </a:p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27AE60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OVS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05792" y="2759307"/>
            <a:ext cx="4142565" cy="187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3B6EC9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Proxmox VE</a:t>
            </a:r>
          </a:p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30BFD3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Ceph MON</a:t>
            </a:r>
          </a:p>
          <a:p>
            <a:pPr algn="l">
              <a:lnSpc>
                <a:spcPts val="3023"/>
              </a:lnSpc>
            </a:pP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◆ Ceph MGR (StandBy)</a:t>
            </a:r>
          </a:p>
          <a:p>
            <a:pPr algn="l">
              <a:lnSpc>
                <a:spcPts val="3023"/>
              </a:lnSpc>
            </a:pPr>
            <a:r>
              <a:rPr lang="en-US" sz="1574" b="true">
                <a:solidFill>
                  <a:srgbClr val="F39C12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◆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 Ceph OSD (×4) </a:t>
            </a:r>
          </a:p>
          <a:p>
            <a:pPr algn="l">
              <a:lnSpc>
                <a:spcPts val="3023"/>
              </a:lnSpc>
            </a:pPr>
            <a:r>
              <a:rPr lang="en-US" sz="1574">
                <a:solidFill>
                  <a:srgbClr val="27AE60"/>
                </a:solidFill>
                <a:latin typeface="Quattrocento"/>
                <a:ea typeface="Quattrocento"/>
                <a:cs typeface="Quattrocento"/>
                <a:sym typeface="Quattrocento"/>
              </a:rPr>
              <a:t>◆</a:t>
            </a:r>
            <a:r>
              <a:rPr lang="en-US" sz="157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1574" b="true">
                <a:solidFill>
                  <a:srgbClr val="333333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OVS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42701" y="5289044"/>
            <a:ext cx="4261803" cy="82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6"/>
              </a:lnSpc>
            </a:pPr>
            <a:r>
              <a:rPr lang="en-US" b="true" sz="2400">
                <a:solidFill>
                  <a:srgbClr val="333333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Ceph Po</a:t>
            </a:r>
            <a:r>
              <a:rPr lang="en-US" b="true" sz="2400">
                <a:solidFill>
                  <a:srgbClr val="333333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ol</a:t>
            </a:r>
          </a:p>
          <a:p>
            <a:pPr algn="just">
              <a:lnSpc>
                <a:spcPts val="2661"/>
              </a:lnSpc>
            </a:pPr>
            <a:r>
              <a:rPr lang="en-US" b="true" sz="1574">
                <a:solidFill>
                  <a:srgbClr val="333333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12 OSDs · réplication ×3 · ~2.1 To utilisables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54144" y="5408499"/>
            <a:ext cx="83708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OSD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PVE-01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124603" y="5408499"/>
            <a:ext cx="88773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OSD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PVE-02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18857" y="5408499"/>
            <a:ext cx="88868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OSD</a:t>
            </a:r>
          </a:p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PVE-03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878339" y="4324022"/>
            <a:ext cx="3591054" cy="35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1574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Serveur Chrony (synchornisation NTP)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3"/>
            </a:xfrm>
            <a:custGeom>
              <a:avLst/>
              <a:gdLst/>
              <a:ahLst/>
              <a:cxnLst/>
              <a:rect r="r" b="b" t="t" l="l"/>
              <a:pathLst>
                <a:path h="857083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ORGANISATION EN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 COUCHES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99673" y="4271124"/>
            <a:ext cx="385686" cy="28565"/>
            <a:chOff x="0" y="0"/>
            <a:chExt cx="514248" cy="380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4223" cy="38100"/>
            </a:xfrm>
            <a:custGeom>
              <a:avLst/>
              <a:gdLst/>
              <a:ahLst/>
              <a:cxnLst/>
              <a:rect r="r" b="b" t="t" l="l"/>
              <a:pathLst>
                <a:path h="38100" w="514223">
                  <a:moveTo>
                    <a:pt x="0" y="0"/>
                  </a:moveTo>
                  <a:lnTo>
                    <a:pt x="514223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13012" r="-4" b="-212979"/>
              </a:stretch>
            </a:blipFill>
            <a:ln w="28569" cap="sq">
              <a:solidFill>
                <a:srgbClr val="E2E5E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913657" y="4271124"/>
            <a:ext cx="385686" cy="28565"/>
            <a:chOff x="0" y="0"/>
            <a:chExt cx="514248" cy="380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4223" cy="38100"/>
            </a:xfrm>
            <a:custGeom>
              <a:avLst/>
              <a:gdLst/>
              <a:ahLst/>
              <a:cxnLst/>
              <a:rect r="r" b="b" t="t" l="l"/>
              <a:pathLst>
                <a:path h="38100" w="514223">
                  <a:moveTo>
                    <a:pt x="0" y="0"/>
                  </a:moveTo>
                  <a:lnTo>
                    <a:pt x="514223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13012" r="-4" b="-212979"/>
              </a:stretch>
            </a:blipFill>
            <a:ln w="28569" cap="sq">
              <a:solidFill>
                <a:srgbClr val="E2E5E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127650" y="4271124"/>
            <a:ext cx="385686" cy="28565"/>
            <a:chOff x="0" y="0"/>
            <a:chExt cx="514248" cy="380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223" cy="38100"/>
            </a:xfrm>
            <a:custGeom>
              <a:avLst/>
              <a:gdLst/>
              <a:ahLst/>
              <a:cxnLst/>
              <a:rect r="r" b="b" t="t" l="l"/>
              <a:pathLst>
                <a:path h="38100" w="514223">
                  <a:moveTo>
                    <a:pt x="0" y="0"/>
                  </a:moveTo>
                  <a:lnTo>
                    <a:pt x="514223" y="38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13012" r="-4" b="-212979"/>
              </a:stretch>
            </a:blipFill>
            <a:ln w="28569" cap="sq">
              <a:solidFill>
                <a:srgbClr val="E2E5E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15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1339691"/>
            <a:ext cx="16230600" cy="8013859"/>
          </a:xfrm>
          <a:custGeom>
            <a:avLst/>
            <a:gdLst/>
            <a:ahLst/>
            <a:cxnLst/>
            <a:rect r="r" b="b" t="t" l="l"/>
            <a:pathLst>
              <a:path h="8013859" w="16230600">
                <a:moveTo>
                  <a:pt x="0" y="0"/>
                </a:moveTo>
                <a:lnTo>
                  <a:pt x="16230600" y="0"/>
                </a:lnTo>
                <a:lnTo>
                  <a:pt x="16230600" y="8013859"/>
                </a:lnTo>
                <a:lnTo>
                  <a:pt x="0" y="8013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079" y="571386"/>
            <a:ext cx="12856235" cy="642812"/>
            <a:chOff x="0" y="0"/>
            <a:chExt cx="17141647" cy="8570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41653" cy="857080"/>
            </a:xfrm>
            <a:custGeom>
              <a:avLst/>
              <a:gdLst/>
              <a:ahLst/>
              <a:cxnLst/>
              <a:rect r="r" b="b" t="t" l="l"/>
              <a:pathLst>
                <a:path h="857080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7141647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Couche Calcul : Proxmox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VE +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Haute Disponibilité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81612" y="2746684"/>
            <a:ext cx="7700724" cy="2396816"/>
            <a:chOff x="0" y="0"/>
            <a:chExt cx="1230729" cy="3830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0729" cy="383047"/>
            </a:xfrm>
            <a:custGeom>
              <a:avLst/>
              <a:gdLst/>
              <a:ahLst/>
              <a:cxnLst/>
              <a:rect r="r" b="b" t="t" l="l"/>
              <a:pathLst>
                <a:path h="383047" w="1230729">
                  <a:moveTo>
                    <a:pt x="1230729" y="53284"/>
                  </a:moveTo>
                  <a:lnTo>
                    <a:pt x="1230729" y="329763"/>
                  </a:lnTo>
                  <a:cubicBezTo>
                    <a:pt x="1230729" y="359191"/>
                    <a:pt x="1206873" y="383047"/>
                    <a:pt x="1177445" y="383047"/>
                  </a:cubicBezTo>
                  <a:lnTo>
                    <a:pt x="53284" y="383047"/>
                  </a:lnTo>
                  <a:cubicBezTo>
                    <a:pt x="39152" y="383047"/>
                    <a:pt x="25599" y="377433"/>
                    <a:pt x="15606" y="367441"/>
                  </a:cubicBezTo>
                  <a:cubicBezTo>
                    <a:pt x="5614" y="357448"/>
                    <a:pt x="0" y="343895"/>
                    <a:pt x="0" y="329763"/>
                  </a:cubicBezTo>
                  <a:lnTo>
                    <a:pt x="0" y="53284"/>
                  </a:lnTo>
                  <a:cubicBezTo>
                    <a:pt x="0" y="39152"/>
                    <a:pt x="5614" y="25599"/>
                    <a:pt x="15606" y="15606"/>
                  </a:cubicBezTo>
                  <a:cubicBezTo>
                    <a:pt x="25599" y="5614"/>
                    <a:pt x="39152" y="0"/>
                    <a:pt x="53284" y="0"/>
                  </a:cubicBezTo>
                  <a:lnTo>
                    <a:pt x="1177445" y="0"/>
                  </a:lnTo>
                  <a:cubicBezTo>
                    <a:pt x="1191577" y="0"/>
                    <a:pt x="1205130" y="5614"/>
                    <a:pt x="1215122" y="15606"/>
                  </a:cubicBezTo>
                  <a:cubicBezTo>
                    <a:pt x="1225115" y="25599"/>
                    <a:pt x="1230729" y="39152"/>
                    <a:pt x="1230729" y="53284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57175"/>
              <a:ext cx="1230729" cy="640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6912"/>
                </a:lnSpc>
              </a:pP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</a:t>
              </a: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Cluster 3 noeuds</a:t>
              </a:r>
            </a:p>
            <a:p>
              <a:pPr algn="l">
                <a:lnSpc>
                  <a:spcPts val="6912"/>
                </a:lnSpc>
              </a:pPr>
              <a:r>
                <a:rPr lang="en-US" sz="36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 Avec Corosync (quorum)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1612" y="5494083"/>
            <a:ext cx="7700724" cy="2396816"/>
            <a:chOff x="0" y="0"/>
            <a:chExt cx="1230729" cy="3830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0729" cy="383047"/>
            </a:xfrm>
            <a:custGeom>
              <a:avLst/>
              <a:gdLst/>
              <a:ahLst/>
              <a:cxnLst/>
              <a:rect r="r" b="b" t="t" l="l"/>
              <a:pathLst>
                <a:path h="383047" w="1230729">
                  <a:moveTo>
                    <a:pt x="1230729" y="53284"/>
                  </a:moveTo>
                  <a:lnTo>
                    <a:pt x="1230729" y="329763"/>
                  </a:lnTo>
                  <a:cubicBezTo>
                    <a:pt x="1230729" y="359191"/>
                    <a:pt x="1206873" y="383047"/>
                    <a:pt x="1177445" y="383047"/>
                  </a:cubicBezTo>
                  <a:lnTo>
                    <a:pt x="53284" y="383047"/>
                  </a:lnTo>
                  <a:cubicBezTo>
                    <a:pt x="39152" y="383047"/>
                    <a:pt x="25599" y="377433"/>
                    <a:pt x="15606" y="367441"/>
                  </a:cubicBezTo>
                  <a:cubicBezTo>
                    <a:pt x="5614" y="357448"/>
                    <a:pt x="0" y="343895"/>
                    <a:pt x="0" y="329763"/>
                  </a:cubicBezTo>
                  <a:lnTo>
                    <a:pt x="0" y="53284"/>
                  </a:lnTo>
                  <a:cubicBezTo>
                    <a:pt x="0" y="39152"/>
                    <a:pt x="5614" y="25599"/>
                    <a:pt x="15606" y="15606"/>
                  </a:cubicBezTo>
                  <a:cubicBezTo>
                    <a:pt x="25599" y="5614"/>
                    <a:pt x="39152" y="0"/>
                    <a:pt x="53284" y="0"/>
                  </a:cubicBezTo>
                  <a:lnTo>
                    <a:pt x="1177445" y="0"/>
                  </a:lnTo>
                  <a:cubicBezTo>
                    <a:pt x="1191577" y="0"/>
                    <a:pt x="1205130" y="5614"/>
                    <a:pt x="1215122" y="15606"/>
                  </a:cubicBezTo>
                  <a:cubicBezTo>
                    <a:pt x="1225115" y="25599"/>
                    <a:pt x="1230729" y="39152"/>
                    <a:pt x="1230729" y="53284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57175"/>
              <a:ext cx="1230729" cy="640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6912"/>
                </a:lnSpc>
              </a:pPr>
              <a:r>
                <a:rPr lang="en-US" sz="36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Problème identifié</a:t>
              </a:r>
            </a:p>
            <a:p>
              <a:pPr algn="l">
                <a:lnSpc>
                  <a:spcPts val="5760"/>
                </a:lnSpc>
              </a:pPr>
              <a:r>
                <a:rPr lang="en-US" b="true" sz="30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</a:t>
              </a:r>
              <a:r>
                <a:rPr lang="en-US" sz="30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Ab</a:t>
              </a:r>
              <a:r>
                <a:rPr lang="en-US" sz="30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sence de Load Balancer dans Proxmox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05664" y="2746684"/>
            <a:ext cx="7700724" cy="2396816"/>
            <a:chOff x="0" y="0"/>
            <a:chExt cx="1230729" cy="3830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0729" cy="383047"/>
            </a:xfrm>
            <a:custGeom>
              <a:avLst/>
              <a:gdLst/>
              <a:ahLst/>
              <a:cxnLst/>
              <a:rect r="r" b="b" t="t" l="l"/>
              <a:pathLst>
                <a:path h="383047" w="1230729">
                  <a:moveTo>
                    <a:pt x="1230729" y="53284"/>
                  </a:moveTo>
                  <a:lnTo>
                    <a:pt x="1230729" y="329763"/>
                  </a:lnTo>
                  <a:cubicBezTo>
                    <a:pt x="1230729" y="359191"/>
                    <a:pt x="1206873" y="383047"/>
                    <a:pt x="1177445" y="383047"/>
                  </a:cubicBezTo>
                  <a:lnTo>
                    <a:pt x="53284" y="383047"/>
                  </a:lnTo>
                  <a:cubicBezTo>
                    <a:pt x="39152" y="383047"/>
                    <a:pt x="25599" y="377433"/>
                    <a:pt x="15606" y="367441"/>
                  </a:cubicBezTo>
                  <a:cubicBezTo>
                    <a:pt x="5614" y="357448"/>
                    <a:pt x="0" y="343895"/>
                    <a:pt x="0" y="329763"/>
                  </a:cubicBezTo>
                  <a:lnTo>
                    <a:pt x="0" y="53284"/>
                  </a:lnTo>
                  <a:cubicBezTo>
                    <a:pt x="0" y="39152"/>
                    <a:pt x="5614" y="25599"/>
                    <a:pt x="15606" y="15606"/>
                  </a:cubicBezTo>
                  <a:cubicBezTo>
                    <a:pt x="25599" y="5614"/>
                    <a:pt x="39152" y="0"/>
                    <a:pt x="53284" y="0"/>
                  </a:cubicBezTo>
                  <a:lnTo>
                    <a:pt x="1177445" y="0"/>
                  </a:lnTo>
                  <a:cubicBezTo>
                    <a:pt x="1191577" y="0"/>
                    <a:pt x="1205130" y="5614"/>
                    <a:pt x="1215122" y="15606"/>
                  </a:cubicBezTo>
                  <a:cubicBezTo>
                    <a:pt x="1225115" y="25599"/>
                    <a:pt x="1230729" y="39152"/>
                    <a:pt x="1230729" y="53284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57175"/>
              <a:ext cx="1230729" cy="640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6912"/>
                </a:lnSpc>
              </a:pP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Migration à cha</a:t>
              </a: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ud</a:t>
              </a:r>
            </a:p>
            <a:p>
              <a:pPr algn="l">
                <a:lnSpc>
                  <a:spcPts val="6912"/>
                </a:lnSpc>
              </a:pP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</a:t>
              </a:r>
              <a:r>
                <a:rPr lang="en-US" sz="36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Des VMs sans interruption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05664" y="5494083"/>
            <a:ext cx="7700724" cy="2396816"/>
            <a:chOff x="0" y="0"/>
            <a:chExt cx="1230729" cy="38304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0729" cy="383047"/>
            </a:xfrm>
            <a:custGeom>
              <a:avLst/>
              <a:gdLst/>
              <a:ahLst/>
              <a:cxnLst/>
              <a:rect r="r" b="b" t="t" l="l"/>
              <a:pathLst>
                <a:path h="383047" w="1230729">
                  <a:moveTo>
                    <a:pt x="1230729" y="53284"/>
                  </a:moveTo>
                  <a:lnTo>
                    <a:pt x="1230729" y="329763"/>
                  </a:lnTo>
                  <a:cubicBezTo>
                    <a:pt x="1230729" y="359191"/>
                    <a:pt x="1206873" y="383047"/>
                    <a:pt x="1177445" y="383047"/>
                  </a:cubicBezTo>
                  <a:lnTo>
                    <a:pt x="53284" y="383047"/>
                  </a:lnTo>
                  <a:cubicBezTo>
                    <a:pt x="39152" y="383047"/>
                    <a:pt x="25599" y="377433"/>
                    <a:pt x="15606" y="367441"/>
                  </a:cubicBezTo>
                  <a:cubicBezTo>
                    <a:pt x="5614" y="357448"/>
                    <a:pt x="0" y="343895"/>
                    <a:pt x="0" y="329763"/>
                  </a:cubicBezTo>
                  <a:lnTo>
                    <a:pt x="0" y="53284"/>
                  </a:lnTo>
                  <a:cubicBezTo>
                    <a:pt x="0" y="39152"/>
                    <a:pt x="5614" y="25599"/>
                    <a:pt x="15606" y="15606"/>
                  </a:cubicBezTo>
                  <a:cubicBezTo>
                    <a:pt x="25599" y="5614"/>
                    <a:pt x="39152" y="0"/>
                    <a:pt x="53284" y="0"/>
                  </a:cubicBezTo>
                  <a:lnTo>
                    <a:pt x="1177445" y="0"/>
                  </a:lnTo>
                  <a:cubicBezTo>
                    <a:pt x="1191577" y="0"/>
                    <a:pt x="1205130" y="5614"/>
                    <a:pt x="1215122" y="15606"/>
                  </a:cubicBezTo>
                  <a:cubicBezTo>
                    <a:pt x="1225115" y="25599"/>
                    <a:pt x="1230729" y="39152"/>
                    <a:pt x="1230729" y="53284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57175"/>
              <a:ext cx="1230729" cy="640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6912"/>
                </a:lnSpc>
              </a:pP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So</a:t>
              </a:r>
              <a:r>
                <a:rPr lang="en-US" b="true" sz="36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lution</a:t>
              </a:r>
            </a:p>
            <a:p>
              <a:pPr algn="l">
                <a:lnSpc>
                  <a:spcPts val="6528"/>
                </a:lnSpc>
              </a:pPr>
              <a:r>
                <a:rPr lang="en-US" b="true" sz="34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</a:t>
              </a:r>
              <a:r>
                <a:rPr lang="en-US" sz="340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Services de Load Balancing Scheduler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2"/>
            <a:chOff x="0" y="0"/>
            <a:chExt cx="17141647" cy="857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0"/>
            </a:xfrm>
            <a:custGeom>
              <a:avLst/>
              <a:gdLst/>
              <a:ahLst/>
              <a:cxnLst/>
              <a:rect r="r" b="b" t="t" l="l"/>
              <a:pathLst>
                <a:path h="857080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PROBLEME DU </a:t>
              </a:r>
              <a:r>
                <a:rPr lang="en-US" b="true" sz="3374" spc="112">
                  <a:solidFill>
                    <a:srgbClr val="3A6AD6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Distributeur de la charge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ABSENT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571320"/>
            <a:ext cx="7713745" cy="499965"/>
            <a:chOff x="0" y="0"/>
            <a:chExt cx="10284993" cy="6666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84992" cy="666617"/>
            </a:xfrm>
            <a:custGeom>
              <a:avLst/>
              <a:gdLst/>
              <a:ahLst/>
              <a:cxnLst/>
              <a:rect r="r" b="b" t="t" l="l"/>
              <a:pathLst>
                <a:path h="666617" w="10284992">
                  <a:moveTo>
                    <a:pt x="0" y="0"/>
                  </a:moveTo>
                  <a:lnTo>
                    <a:pt x="10284992" y="0"/>
                  </a:lnTo>
                  <a:lnTo>
                    <a:pt x="10284992" y="666617"/>
                  </a:lnTo>
                  <a:lnTo>
                    <a:pt x="0" y="6666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7" r="0" b="-2506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284993" cy="733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5A5A5A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Sans LB - Charge desequilibree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474" y="2285552"/>
            <a:ext cx="1999859" cy="2856938"/>
            <a:chOff x="0" y="0"/>
            <a:chExt cx="2666479" cy="38092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66492" cy="3809238"/>
            </a:xfrm>
            <a:custGeom>
              <a:avLst/>
              <a:gdLst/>
              <a:ahLst/>
              <a:cxnLst/>
              <a:rect r="r" b="b" t="t" l="l"/>
              <a:pathLst>
                <a:path h="3809238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3809238"/>
                  </a:lnTo>
                  <a:lnTo>
                    <a:pt x="0" y="3809238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28474" y="3142640"/>
            <a:ext cx="1999859" cy="571386"/>
            <a:chOff x="0" y="0"/>
            <a:chExt cx="2666479" cy="7618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66479" cy="761851"/>
            </a:xfrm>
            <a:custGeom>
              <a:avLst/>
              <a:gdLst/>
              <a:ahLst/>
              <a:cxnLst/>
              <a:rect r="r" b="b" t="t" l="l"/>
              <a:pathLst>
                <a:path h="76185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666479" cy="8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Nœud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8474" y="3714026"/>
            <a:ext cx="1999859" cy="428539"/>
            <a:chOff x="0" y="0"/>
            <a:chExt cx="2666479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66479" cy="571388"/>
            </a:xfrm>
            <a:custGeom>
              <a:avLst/>
              <a:gdLst/>
              <a:ahLst/>
              <a:cxnLst/>
              <a:rect r="r" b="b" t="t" l="l"/>
              <a:pathLst>
                <a:path h="571388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2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666479" cy="6380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7"/>
                </a:lnSpc>
              </a:pPr>
              <a:r>
                <a:rPr lang="en-US" sz="26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95%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14026" y="3428333"/>
            <a:ext cx="1999859" cy="1714167"/>
            <a:chOff x="0" y="0"/>
            <a:chExt cx="2666479" cy="2285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66492" cy="2285492"/>
            </a:xfrm>
            <a:custGeom>
              <a:avLst/>
              <a:gdLst/>
              <a:ahLst/>
              <a:cxnLst/>
              <a:rect r="r" b="b" t="t" l="l"/>
              <a:pathLst>
                <a:path h="2285492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714026" y="3856873"/>
            <a:ext cx="1999859" cy="571386"/>
            <a:chOff x="0" y="0"/>
            <a:chExt cx="2666479" cy="7618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66479" cy="761851"/>
            </a:xfrm>
            <a:custGeom>
              <a:avLst/>
              <a:gdLst/>
              <a:ahLst/>
              <a:cxnLst/>
              <a:rect r="r" b="b" t="t" l="l"/>
              <a:pathLst>
                <a:path h="76185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666479" cy="8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Nœud 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14026" y="4428258"/>
            <a:ext cx="1999859" cy="428539"/>
            <a:chOff x="0" y="0"/>
            <a:chExt cx="2666479" cy="5713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66479" cy="571388"/>
            </a:xfrm>
            <a:custGeom>
              <a:avLst/>
              <a:gdLst/>
              <a:ahLst/>
              <a:cxnLst/>
              <a:rect r="r" b="b" t="t" l="l"/>
              <a:pathLst>
                <a:path h="571388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2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666479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15"/>
                </a:lnSpc>
              </a:pPr>
              <a:r>
                <a:rPr lang="en-US" sz="202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25%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999578" y="3999719"/>
            <a:ext cx="1999859" cy="1142781"/>
            <a:chOff x="0" y="0"/>
            <a:chExt cx="2666479" cy="15237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6649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999578" y="4213993"/>
            <a:ext cx="1999859" cy="428539"/>
            <a:chOff x="0" y="0"/>
            <a:chExt cx="2666479" cy="5713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6479" cy="571388"/>
            </a:xfrm>
            <a:custGeom>
              <a:avLst/>
              <a:gdLst/>
              <a:ahLst/>
              <a:cxnLst/>
              <a:rect r="r" b="b" t="t" l="l"/>
              <a:pathLst>
                <a:path h="571388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666479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Nœud 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999578" y="4642533"/>
            <a:ext cx="1999859" cy="357121"/>
            <a:chOff x="0" y="0"/>
            <a:chExt cx="2666479" cy="47616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66479" cy="476157"/>
            </a:xfrm>
            <a:custGeom>
              <a:avLst/>
              <a:gdLst/>
              <a:ahLst/>
              <a:cxnLst/>
              <a:rect r="r" b="b" t="t" l="l"/>
              <a:pathLst>
                <a:path h="476157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476157"/>
                  </a:lnTo>
                  <a:lnTo>
                    <a:pt x="0" y="4761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115" r="0" b="-591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666479" cy="523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15%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63709" y="3549748"/>
            <a:ext cx="899941" cy="42853"/>
            <a:chOff x="0" y="0"/>
            <a:chExt cx="1199921" cy="571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99896" cy="57150"/>
            </a:xfrm>
            <a:custGeom>
              <a:avLst/>
              <a:gdLst/>
              <a:ahLst/>
              <a:cxnLst/>
              <a:rect r="r" b="b" t="t" l="l"/>
              <a:pathLst>
                <a:path h="57150" w="1199896">
                  <a:moveTo>
                    <a:pt x="0" y="0"/>
                  </a:moveTo>
                  <a:lnTo>
                    <a:pt x="1199896" y="5715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359118" r="-2" b="-359096"/>
              </a:stretch>
            </a:blipFill>
            <a:ln w="42854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427912" y="1571320"/>
            <a:ext cx="7999438" cy="499967"/>
            <a:chOff x="0" y="0"/>
            <a:chExt cx="10665917" cy="6666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65917" cy="666620"/>
            </a:xfrm>
            <a:custGeom>
              <a:avLst/>
              <a:gdLst/>
              <a:ahLst/>
              <a:cxnLst/>
              <a:rect r="r" b="b" t="t" l="l"/>
              <a:pathLst>
                <a:path h="666620" w="10665917">
                  <a:moveTo>
                    <a:pt x="0" y="0"/>
                  </a:moveTo>
                  <a:lnTo>
                    <a:pt x="10665917" y="0"/>
                  </a:lnTo>
                  <a:lnTo>
                    <a:pt x="10665917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0665917" cy="7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5A5A5A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Avec CLBS - Charge equilibree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999297" y="2856938"/>
            <a:ext cx="1999859" cy="2285552"/>
            <a:chOff x="0" y="0"/>
            <a:chExt cx="2666479" cy="30474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66492" cy="3047365"/>
            </a:xfrm>
            <a:custGeom>
              <a:avLst/>
              <a:gdLst/>
              <a:ahLst/>
              <a:cxnLst/>
              <a:rect r="r" b="b" t="t" l="l"/>
              <a:pathLst>
                <a:path h="3047365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999297" y="3571180"/>
            <a:ext cx="1999859" cy="571386"/>
            <a:chOff x="0" y="0"/>
            <a:chExt cx="2666479" cy="7618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66479" cy="761851"/>
            </a:xfrm>
            <a:custGeom>
              <a:avLst/>
              <a:gdLst/>
              <a:ahLst/>
              <a:cxnLst/>
              <a:rect r="r" b="b" t="t" l="l"/>
              <a:pathLst>
                <a:path h="76185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666479" cy="8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Nœud 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999297" y="4142565"/>
            <a:ext cx="1999859" cy="428539"/>
            <a:chOff x="0" y="0"/>
            <a:chExt cx="2666479" cy="57138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66479" cy="571388"/>
            </a:xfrm>
            <a:custGeom>
              <a:avLst/>
              <a:gdLst/>
              <a:ahLst/>
              <a:cxnLst/>
              <a:rect r="r" b="b" t="t" l="l"/>
              <a:pathLst>
                <a:path h="571388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2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666479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45%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284850" y="2856938"/>
            <a:ext cx="1999859" cy="2285552"/>
            <a:chOff x="0" y="0"/>
            <a:chExt cx="2666479" cy="30474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66492" cy="3047365"/>
            </a:xfrm>
            <a:custGeom>
              <a:avLst/>
              <a:gdLst/>
              <a:ahLst/>
              <a:cxnLst/>
              <a:rect r="r" b="b" t="t" l="l"/>
              <a:pathLst>
                <a:path h="3047365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284850" y="3571180"/>
            <a:ext cx="1999859" cy="571386"/>
            <a:chOff x="0" y="0"/>
            <a:chExt cx="2666479" cy="7618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66479" cy="761851"/>
            </a:xfrm>
            <a:custGeom>
              <a:avLst/>
              <a:gdLst/>
              <a:ahLst/>
              <a:cxnLst/>
              <a:rect r="r" b="b" t="t" l="l"/>
              <a:pathLst>
                <a:path h="76185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666479" cy="8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Nœud 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84850" y="4142565"/>
            <a:ext cx="1999859" cy="428541"/>
            <a:chOff x="0" y="0"/>
            <a:chExt cx="2666479" cy="5713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66479" cy="571391"/>
            </a:xfrm>
            <a:custGeom>
              <a:avLst/>
              <a:gdLst/>
              <a:ahLst/>
              <a:cxnLst/>
              <a:rect r="r" b="b" t="t" l="l"/>
              <a:pathLst>
                <a:path h="57139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2666479" cy="628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50</a:t>
              </a: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570402" y="2856938"/>
            <a:ext cx="1999859" cy="2285552"/>
            <a:chOff x="0" y="0"/>
            <a:chExt cx="2666479" cy="30474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66492" cy="3047365"/>
            </a:xfrm>
            <a:custGeom>
              <a:avLst/>
              <a:gdLst/>
              <a:ahLst/>
              <a:cxnLst/>
              <a:rect r="r" b="b" t="t" l="l"/>
              <a:pathLst>
                <a:path h="3047365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4570402" y="3571180"/>
            <a:ext cx="1999859" cy="571386"/>
            <a:chOff x="0" y="0"/>
            <a:chExt cx="2666479" cy="7618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666479" cy="761851"/>
            </a:xfrm>
            <a:custGeom>
              <a:avLst/>
              <a:gdLst/>
              <a:ahLst/>
              <a:cxnLst/>
              <a:rect r="r" b="b" t="t" l="l"/>
              <a:pathLst>
                <a:path h="761851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666479" cy="8094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1"/>
                </a:lnSpc>
              </a:pPr>
              <a:r>
                <a:rPr lang="en-US" sz="179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Nœud 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570402" y="4142565"/>
            <a:ext cx="1999859" cy="428539"/>
            <a:chOff x="0" y="0"/>
            <a:chExt cx="2666479" cy="57138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666479" cy="571388"/>
            </a:xfrm>
            <a:custGeom>
              <a:avLst/>
              <a:gdLst/>
              <a:ahLst/>
              <a:cxnLst/>
              <a:rect r="r" b="b" t="t" l="l"/>
              <a:pathLst>
                <a:path h="571388" w="2666479">
                  <a:moveTo>
                    <a:pt x="0" y="0"/>
                  </a:moveTo>
                  <a:lnTo>
                    <a:pt x="2666479" y="0"/>
                  </a:lnTo>
                  <a:lnTo>
                    <a:pt x="2666479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2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2666479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42%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57079" y="5713886"/>
            <a:ext cx="5285346" cy="1428474"/>
            <a:chOff x="0" y="0"/>
            <a:chExt cx="7047128" cy="19046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047103" cy="1904619"/>
            </a:xfrm>
            <a:custGeom>
              <a:avLst/>
              <a:gdLst/>
              <a:ahLst/>
              <a:cxnLst/>
              <a:rect r="r" b="b" t="t" l="l"/>
              <a:pathLst>
                <a:path h="1904619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1904619"/>
                  </a:lnTo>
                  <a:lnTo>
                    <a:pt x="0" y="1904619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1142781" y="6113859"/>
            <a:ext cx="514245" cy="514245"/>
          </a:xfrm>
          <a:custGeom>
            <a:avLst/>
            <a:gdLst/>
            <a:ahLst/>
            <a:cxnLst/>
            <a:rect r="r" b="b" t="t" l="l"/>
            <a:pathLst>
              <a:path h="514245" w="514245">
                <a:moveTo>
                  <a:pt x="0" y="0"/>
                </a:moveTo>
                <a:lnTo>
                  <a:pt x="514245" y="0"/>
                </a:lnTo>
                <a:lnTo>
                  <a:pt x="514245" y="514246"/>
                </a:lnTo>
                <a:lnTo>
                  <a:pt x="0" y="51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857013" y="5856732"/>
            <a:ext cx="4071147" cy="1142777"/>
            <a:chOff x="0" y="0"/>
            <a:chExt cx="5428196" cy="15237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28190" cy="1523697"/>
            </a:xfrm>
            <a:custGeom>
              <a:avLst/>
              <a:gdLst/>
              <a:ahLst/>
              <a:cxnLst/>
              <a:rect r="r" b="b" t="t" l="l"/>
              <a:pathLst>
                <a:path h="1523697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15" r="0" b="-1941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04775"/>
              <a:ext cx="5428196" cy="1628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Proxmox VE ne dispose pas de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Distributeur de la charge 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natif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499546" y="5713886"/>
            <a:ext cx="5285346" cy="1428474"/>
            <a:chOff x="0" y="0"/>
            <a:chExt cx="7047128" cy="190463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47103" cy="1904619"/>
            </a:xfrm>
            <a:custGeom>
              <a:avLst/>
              <a:gdLst/>
              <a:ahLst/>
              <a:cxnLst/>
              <a:rect r="r" b="b" t="t" l="l"/>
              <a:pathLst>
                <a:path h="1904619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1904619"/>
                  </a:lnTo>
                  <a:lnTo>
                    <a:pt x="0" y="1904619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6785239" y="6113859"/>
            <a:ext cx="514245" cy="514245"/>
          </a:xfrm>
          <a:custGeom>
            <a:avLst/>
            <a:gdLst/>
            <a:ahLst/>
            <a:cxnLst/>
            <a:rect r="r" b="b" t="t" l="l"/>
            <a:pathLst>
              <a:path h="514245" w="514245">
                <a:moveTo>
                  <a:pt x="0" y="0"/>
                </a:moveTo>
                <a:lnTo>
                  <a:pt x="514245" y="0"/>
                </a:lnTo>
                <a:lnTo>
                  <a:pt x="514245" y="514246"/>
                </a:lnTo>
                <a:lnTo>
                  <a:pt x="0" y="514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7499471" y="5856732"/>
            <a:ext cx="4071147" cy="1142781"/>
            <a:chOff x="0" y="0"/>
            <a:chExt cx="5428196" cy="15237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28190" cy="1523702"/>
            </a:xfrm>
            <a:custGeom>
              <a:avLst/>
              <a:gdLst/>
              <a:ahLst/>
              <a:cxnLst/>
              <a:rect r="r" b="b" t="t" l="l"/>
              <a:pathLst>
                <a:path h="1523702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15" r="0" b="-1941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04775"/>
              <a:ext cx="5428196" cy="162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Repartition manuelle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des VMs sur les nœuds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142003" y="5713886"/>
            <a:ext cx="5285346" cy="1428474"/>
            <a:chOff x="0" y="0"/>
            <a:chExt cx="7047128" cy="19046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047103" cy="1904619"/>
            </a:xfrm>
            <a:custGeom>
              <a:avLst/>
              <a:gdLst/>
              <a:ahLst/>
              <a:cxnLst/>
              <a:rect r="r" b="b" t="t" l="l"/>
              <a:pathLst>
                <a:path h="1904619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1904619"/>
                  </a:lnTo>
                  <a:lnTo>
                    <a:pt x="0" y="1904619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12427696" y="6113859"/>
            <a:ext cx="514245" cy="514245"/>
          </a:xfrm>
          <a:custGeom>
            <a:avLst/>
            <a:gdLst/>
            <a:ahLst/>
            <a:cxnLst/>
            <a:rect r="r" b="b" t="t" l="l"/>
            <a:pathLst>
              <a:path h="514245" w="514245">
                <a:moveTo>
                  <a:pt x="0" y="0"/>
                </a:moveTo>
                <a:lnTo>
                  <a:pt x="514245" y="0"/>
                </a:lnTo>
                <a:lnTo>
                  <a:pt x="514245" y="514246"/>
                </a:lnTo>
                <a:lnTo>
                  <a:pt x="0" y="5142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3141938" y="5999578"/>
            <a:ext cx="4071147" cy="928507"/>
            <a:chOff x="0" y="0"/>
            <a:chExt cx="5428196" cy="123800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28190" cy="1238008"/>
            </a:xfrm>
            <a:custGeom>
              <a:avLst/>
              <a:gdLst/>
              <a:ahLst/>
              <a:cxnLst/>
              <a:rect r="r" b="b" t="t" l="l"/>
              <a:pathLst>
                <a:path h="1238008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1238008"/>
                  </a:lnTo>
                  <a:lnTo>
                    <a:pt x="0" y="1238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04775"/>
              <a:ext cx="5428196" cy="13427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Risque de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desequilibre de charge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61851" cy="571388"/>
            </a:xfrm>
            <a:custGeom>
              <a:avLst/>
              <a:gdLst/>
              <a:ahLst/>
              <a:cxnLst/>
              <a:rect r="r" b="b" t="t" l="l"/>
              <a:pathLst>
                <a:path h="571388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761848" cy="6094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3"/>
            </a:xfrm>
            <a:custGeom>
              <a:avLst/>
              <a:gdLst/>
              <a:ahLst/>
              <a:cxnLst/>
              <a:rect r="r" b="b" t="t" l="l"/>
              <a:pathLst>
                <a:path h="857083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PRESENTATION DU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CLBS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571320"/>
            <a:ext cx="16570262" cy="1428474"/>
            <a:chOff x="0" y="0"/>
            <a:chExt cx="22093682" cy="19046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3682" cy="1904619"/>
            </a:xfrm>
            <a:custGeom>
              <a:avLst/>
              <a:gdLst/>
              <a:ahLst/>
              <a:cxnLst/>
              <a:rect r="r" b="b" t="t" l="l"/>
              <a:pathLst>
                <a:path h="1904619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904619"/>
                  </a:lnTo>
                  <a:lnTo>
                    <a:pt x="0" y="1904619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1571320"/>
            <a:ext cx="15998876" cy="1428471"/>
            <a:chOff x="0" y="0"/>
            <a:chExt cx="21331834" cy="19046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1834" cy="1904624"/>
            </a:xfrm>
            <a:custGeom>
              <a:avLst/>
              <a:gdLst/>
              <a:ahLst/>
              <a:cxnLst/>
              <a:rect r="r" b="b" t="t" l="l"/>
              <a:pathLst>
                <a:path h="1904624" w="21331834">
                  <a:moveTo>
                    <a:pt x="0" y="0"/>
                  </a:moveTo>
                  <a:lnTo>
                    <a:pt x="21331834" y="0"/>
                  </a:lnTo>
                  <a:lnTo>
                    <a:pt x="21331834" y="1904624"/>
                  </a:lnTo>
                  <a:lnTo>
                    <a:pt x="0" y="1904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21331834" cy="2037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4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CLBS</a:t>
              </a:r>
              <a:r>
                <a:rPr lang="en-US" sz="224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(Central Load Balancing Scheduler): Solution d'equilibrage de charge developpee en </a:t>
              </a: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Go</a:t>
              </a:r>
            </a:p>
            <a:p>
              <a:pPr algn="ctr">
                <a:lnSpc>
                  <a:spcPts val="4049"/>
                </a:lnSpc>
              </a:pPr>
              <a:r>
                <a:rPr lang="en-US" sz="2249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pour compenser l'absence de DRS dans Proxmox 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3428333"/>
            <a:ext cx="8070866" cy="1857013"/>
            <a:chOff x="0" y="0"/>
            <a:chExt cx="10761154" cy="24760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1091" cy="2475992"/>
            </a:xfrm>
            <a:custGeom>
              <a:avLst/>
              <a:gdLst/>
              <a:ahLst/>
              <a:cxnLst/>
              <a:rect r="r" b="b" t="t" l="l"/>
              <a:pathLst>
                <a:path h="24759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14199" y="3928291"/>
            <a:ext cx="714232" cy="714232"/>
          </a:xfrm>
          <a:custGeom>
            <a:avLst/>
            <a:gdLst/>
            <a:ahLst/>
            <a:cxnLst/>
            <a:rect r="r" b="b" t="t" l="l"/>
            <a:pathLst>
              <a:path h="714232" w="714232">
                <a:moveTo>
                  <a:pt x="0" y="0"/>
                </a:moveTo>
                <a:lnTo>
                  <a:pt x="714232" y="0"/>
                </a:lnTo>
                <a:lnTo>
                  <a:pt x="714232" y="714232"/>
                </a:lnTo>
                <a:lnTo>
                  <a:pt x="0" y="714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42706" y="3571180"/>
            <a:ext cx="6499546" cy="428539"/>
            <a:chOff x="0" y="0"/>
            <a:chExt cx="8666061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66057" cy="571388"/>
            </a:xfrm>
            <a:custGeom>
              <a:avLst/>
              <a:gdLst/>
              <a:ahLst/>
              <a:cxnLst/>
              <a:rect r="r" b="b" t="t" l="l"/>
              <a:pathLst>
                <a:path h="571388" w="8666057">
                  <a:moveTo>
                    <a:pt x="0" y="0"/>
                  </a:moveTo>
                  <a:lnTo>
                    <a:pt x="8666057" y="0"/>
                  </a:lnTo>
                  <a:lnTo>
                    <a:pt x="8666057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8666061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Objectif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142706" y="3975897"/>
            <a:ext cx="6499546" cy="109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799">
                <a:solidFill>
                  <a:srgbClr val="5A5A5A"/>
                </a:solidFill>
                <a:latin typeface="Quattrocento"/>
                <a:ea typeface="Quattrocento"/>
                <a:cs typeface="Quattrocento"/>
                <a:sym typeface="Quattrocento"/>
              </a:rPr>
              <a:t>Equilibrer automatiquement la charge des VMs sur le cluster Proxmox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56484" y="3428333"/>
            <a:ext cx="8070866" cy="1857013"/>
            <a:chOff x="0" y="0"/>
            <a:chExt cx="10761154" cy="24760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1091" cy="2475992"/>
            </a:xfrm>
            <a:custGeom>
              <a:avLst/>
              <a:gdLst/>
              <a:ahLst/>
              <a:cxnLst/>
              <a:rect r="r" b="b" t="t" l="l"/>
              <a:pathLst>
                <a:path h="24759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713605" y="3928291"/>
            <a:ext cx="714232" cy="714232"/>
          </a:xfrm>
          <a:custGeom>
            <a:avLst/>
            <a:gdLst/>
            <a:ahLst/>
            <a:cxnLst/>
            <a:rect r="r" b="b" t="t" l="l"/>
            <a:pathLst>
              <a:path h="714232" w="714232">
                <a:moveTo>
                  <a:pt x="0" y="0"/>
                </a:moveTo>
                <a:lnTo>
                  <a:pt x="714232" y="0"/>
                </a:lnTo>
                <a:lnTo>
                  <a:pt x="714232" y="714232"/>
                </a:lnTo>
                <a:lnTo>
                  <a:pt x="0" y="7142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642111" y="3571180"/>
            <a:ext cx="6499546" cy="691245"/>
            <a:chOff x="0" y="0"/>
            <a:chExt cx="8666061" cy="921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66057" cy="921663"/>
            </a:xfrm>
            <a:custGeom>
              <a:avLst/>
              <a:gdLst/>
              <a:ahLst/>
              <a:cxnLst/>
              <a:rect r="r" b="b" t="t" l="l"/>
              <a:pathLst>
                <a:path h="921663" w="8666057">
                  <a:moveTo>
                    <a:pt x="0" y="0"/>
                  </a:moveTo>
                  <a:lnTo>
                    <a:pt x="8666057" y="0"/>
                  </a:lnTo>
                  <a:lnTo>
                    <a:pt x="8666057" y="921663"/>
                  </a:lnTo>
                  <a:lnTo>
                    <a:pt x="0" y="9216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213" r="0" b="-1142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666061" cy="978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Les aut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res hyperviseurs</a:t>
              </a:r>
            </a:p>
            <a:p>
              <a:pPr algn="l">
                <a:lnSpc>
                  <a:spcPts val="291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42111" y="3975897"/>
            <a:ext cx="6499546" cy="150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799">
                <a:solidFill>
                  <a:srgbClr val="5A5A5A"/>
                </a:solidFill>
                <a:latin typeface="Quattrocento"/>
                <a:ea typeface="Quattrocento"/>
                <a:cs typeface="Quattrocento"/>
                <a:sym typeface="Quattrocento"/>
              </a:rPr>
              <a:t>VMware DRS / vMotion, Microsoft SCVMM, oVirt et OpenStack Nova repartissent la charge automatiquement ; Proxmox, lui, ne le fait pas.</a:t>
            </a:r>
          </a:p>
          <a:p>
            <a:pPr algn="l">
              <a:lnSpc>
                <a:spcPts val="3023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857079" y="5642458"/>
            <a:ext cx="8070866" cy="1857013"/>
            <a:chOff x="0" y="0"/>
            <a:chExt cx="10761154" cy="24760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1091" cy="2475992"/>
            </a:xfrm>
            <a:custGeom>
              <a:avLst/>
              <a:gdLst/>
              <a:ahLst/>
              <a:cxnLst/>
              <a:rect r="r" b="b" t="t" l="l"/>
              <a:pathLst>
                <a:path h="24759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214199" y="6142425"/>
            <a:ext cx="714232" cy="714232"/>
          </a:xfrm>
          <a:custGeom>
            <a:avLst/>
            <a:gdLst/>
            <a:ahLst/>
            <a:cxnLst/>
            <a:rect r="r" b="b" t="t" l="l"/>
            <a:pathLst>
              <a:path h="714232" w="714232">
                <a:moveTo>
                  <a:pt x="0" y="0"/>
                </a:moveTo>
                <a:lnTo>
                  <a:pt x="714232" y="0"/>
                </a:lnTo>
                <a:lnTo>
                  <a:pt x="714232" y="714232"/>
                </a:lnTo>
                <a:lnTo>
                  <a:pt x="0" y="7142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142706" y="5785304"/>
            <a:ext cx="6499546" cy="428539"/>
            <a:chOff x="0" y="0"/>
            <a:chExt cx="8666061" cy="57138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66057" cy="571388"/>
            </a:xfrm>
            <a:custGeom>
              <a:avLst/>
              <a:gdLst/>
              <a:ahLst/>
              <a:cxnLst/>
              <a:rect r="r" b="b" t="t" l="l"/>
              <a:pathLst>
                <a:path h="571388" w="8666057">
                  <a:moveTo>
                    <a:pt x="0" y="0"/>
                  </a:moveTo>
                  <a:lnTo>
                    <a:pt x="8666057" y="0"/>
                  </a:lnTo>
                  <a:lnTo>
                    <a:pt x="8666057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666061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Metriques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142706" y="6190021"/>
            <a:ext cx="6499546" cy="109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799">
                <a:solidFill>
                  <a:srgbClr val="5A5A5A"/>
                </a:solidFill>
                <a:latin typeface="Quattrocento"/>
                <a:ea typeface="Quattrocento"/>
                <a:cs typeface="Quattrocento"/>
                <a:sym typeface="Quattrocento"/>
              </a:rPr>
              <a:t>Algorithmes bases sur CPU, RAM et I/O disque pour le calcul de charge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56484" y="5642458"/>
            <a:ext cx="8070866" cy="1857013"/>
            <a:chOff x="0" y="0"/>
            <a:chExt cx="10761154" cy="24760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61091" cy="2475992"/>
            </a:xfrm>
            <a:custGeom>
              <a:avLst/>
              <a:gdLst/>
              <a:ahLst/>
              <a:cxnLst/>
              <a:rect r="r" b="b" t="t" l="l"/>
              <a:pathLst>
                <a:path h="24759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713605" y="6142425"/>
            <a:ext cx="714232" cy="714232"/>
          </a:xfrm>
          <a:custGeom>
            <a:avLst/>
            <a:gdLst/>
            <a:ahLst/>
            <a:cxnLst/>
            <a:rect r="r" b="b" t="t" l="l"/>
            <a:pathLst>
              <a:path h="714232" w="714232">
                <a:moveTo>
                  <a:pt x="0" y="0"/>
                </a:moveTo>
                <a:lnTo>
                  <a:pt x="714232" y="0"/>
                </a:lnTo>
                <a:lnTo>
                  <a:pt x="714232" y="714232"/>
                </a:lnTo>
                <a:lnTo>
                  <a:pt x="0" y="7142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0642111" y="5785304"/>
            <a:ext cx="6499546" cy="428539"/>
            <a:chOff x="0" y="0"/>
            <a:chExt cx="8666061" cy="5713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66057" cy="571388"/>
            </a:xfrm>
            <a:custGeom>
              <a:avLst/>
              <a:gdLst/>
              <a:ahLst/>
              <a:cxnLst/>
              <a:rect r="r" b="b" t="t" l="l"/>
              <a:pathLst>
                <a:path h="571388" w="8666057">
                  <a:moveTo>
                    <a:pt x="0" y="0"/>
                  </a:moveTo>
                  <a:lnTo>
                    <a:pt x="8666057" y="0"/>
                  </a:lnTo>
                  <a:lnTo>
                    <a:pt x="8666057" y="571388"/>
                  </a:lnTo>
                  <a:lnTo>
                    <a:pt x="0" y="5713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523" r="0" b="-24552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666061" cy="628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5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Technologie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642111" y="6190021"/>
            <a:ext cx="6499546" cy="109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1799">
                <a:solidFill>
                  <a:srgbClr val="5A5A5A"/>
                </a:solidFill>
                <a:latin typeface="Quattrocento"/>
                <a:ea typeface="Quattrocento"/>
                <a:cs typeface="Quattrocento"/>
                <a:sym typeface="Quattrocento"/>
              </a:rPr>
              <a:t>Developpe en Go pour les performances et la concurrence native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 strike="noStrike" u="non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98" cy="857123"/>
            </a:xfrm>
            <a:custGeom>
              <a:avLst/>
              <a:gdLst/>
              <a:ahLst/>
              <a:cxnLst/>
              <a:rect r="r" b="b" t="t" l="l"/>
              <a:pathLst>
                <a:path h="857123" w="17141698">
                  <a:moveTo>
                    <a:pt x="0" y="0"/>
                  </a:moveTo>
                  <a:lnTo>
                    <a:pt x="17141698" y="0"/>
                  </a:lnTo>
                  <a:lnTo>
                    <a:pt x="17141698" y="857123"/>
                  </a:lnTo>
                  <a:lnTo>
                    <a:pt x="0" y="8571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13" r="0" b="-3394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079" y="507092"/>
            <a:ext cx="12856235" cy="707107"/>
            <a:chOff x="0" y="0"/>
            <a:chExt cx="17141647" cy="9428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41647" cy="942810"/>
            </a:xfrm>
            <a:custGeom>
              <a:avLst/>
              <a:gdLst/>
              <a:ahLst/>
              <a:cxnLst/>
              <a:rect r="r" b="b" t="t" l="l"/>
              <a:pathLst>
                <a:path h="942810" w="17141647">
                  <a:moveTo>
                    <a:pt x="0" y="0"/>
                  </a:moveTo>
                  <a:lnTo>
                    <a:pt x="17141647" y="0"/>
                  </a:lnTo>
                  <a:lnTo>
                    <a:pt x="17141647" y="942810"/>
                  </a:lnTo>
                  <a:lnTo>
                    <a:pt x="0" y="942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66" r="0" b="-3042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7141647" cy="1028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50" spc="111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ALGORITHME DU </a:t>
              </a:r>
              <a:r>
                <a:rPr lang="en-US" b="true" sz="3350" spc="111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CLBS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079" y="1571320"/>
            <a:ext cx="16570262" cy="1142810"/>
            <a:chOff x="0" y="0"/>
            <a:chExt cx="22093682" cy="15237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2781" y="1785585"/>
            <a:ext cx="714280" cy="714280"/>
            <a:chOff x="0" y="0"/>
            <a:chExt cx="952373" cy="9523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2781" y="1785585"/>
            <a:ext cx="714232" cy="714232"/>
            <a:chOff x="0" y="0"/>
            <a:chExt cx="952310" cy="9523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2781" y="1735579"/>
            <a:ext cx="714232" cy="764238"/>
            <a:chOff x="0" y="0"/>
            <a:chExt cx="952310" cy="10189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42706" y="1571320"/>
            <a:ext cx="14998951" cy="1142781"/>
            <a:chOff x="0" y="0"/>
            <a:chExt cx="19998601" cy="1523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42706" y="1471308"/>
            <a:ext cx="14998941" cy="1242793"/>
            <a:chOff x="0" y="0"/>
            <a:chExt cx="19998588" cy="16570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98589" cy="1657058"/>
            </a:xfrm>
            <a:custGeom>
              <a:avLst/>
              <a:gdLst/>
              <a:ahLst/>
              <a:cxnLst/>
              <a:rect r="r" b="b" t="t" l="l"/>
              <a:pathLst>
                <a:path h="1657058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657058"/>
                  </a:lnTo>
                  <a:lnTo>
                    <a:pt x="0" y="16570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59" r="0" b="-1851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33350"/>
              <a:ext cx="19998588" cy="1790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Collecte des metriques</a:t>
              </a:r>
              <a:r>
                <a:rPr lang="en-US" sz="2250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CPU et RAM : instantane via l'API Proxmox + influxDB chaque 60 seconds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74369" y="2689098"/>
            <a:ext cx="49997" cy="335661"/>
            <a:chOff x="0" y="0"/>
            <a:chExt cx="66662" cy="4475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57079" y="2999784"/>
            <a:ext cx="16570262" cy="1142810"/>
            <a:chOff x="0" y="0"/>
            <a:chExt cx="22093682" cy="15237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42781" y="3214059"/>
            <a:ext cx="714280" cy="714280"/>
            <a:chOff x="0" y="0"/>
            <a:chExt cx="952373" cy="95237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42781" y="3214059"/>
            <a:ext cx="714232" cy="714232"/>
            <a:chOff x="0" y="0"/>
            <a:chExt cx="952310" cy="9523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2781" y="3164053"/>
            <a:ext cx="714232" cy="764238"/>
            <a:chOff x="0" y="0"/>
            <a:chExt cx="952310" cy="10189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42706" y="2999784"/>
            <a:ext cx="14998951" cy="1142781"/>
            <a:chOff x="0" y="0"/>
            <a:chExt cx="19998601" cy="15237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42706" y="2899772"/>
            <a:ext cx="14998941" cy="1242793"/>
            <a:chOff x="0" y="0"/>
            <a:chExt cx="19998588" cy="165705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998589" cy="1657058"/>
            </a:xfrm>
            <a:custGeom>
              <a:avLst/>
              <a:gdLst/>
              <a:ahLst/>
              <a:cxnLst/>
              <a:rect r="r" b="b" t="t" l="l"/>
              <a:pathLst>
                <a:path h="1657058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657058"/>
                  </a:lnTo>
                  <a:lnTo>
                    <a:pt x="0" y="16570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59" r="0" b="-18515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33350"/>
              <a:ext cx="19998588" cy="1790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Calcul du seuil</a:t>
              </a:r>
              <a:r>
                <a:rPr lang="en-US" sz="2250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= moyenne des charges du cluster ; ecart diff = |seuil - (min + max) / 2|.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74369" y="4117562"/>
            <a:ext cx="49997" cy="335661"/>
            <a:chOff x="0" y="0"/>
            <a:chExt cx="66662" cy="4475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57079" y="4428258"/>
            <a:ext cx="16570262" cy="1142810"/>
            <a:chOff x="0" y="0"/>
            <a:chExt cx="22093682" cy="15237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42781" y="4642533"/>
            <a:ext cx="714280" cy="714280"/>
            <a:chOff x="0" y="0"/>
            <a:chExt cx="952373" cy="9523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42781" y="4642533"/>
            <a:ext cx="714232" cy="714232"/>
            <a:chOff x="0" y="0"/>
            <a:chExt cx="952310" cy="9523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42781" y="4592526"/>
            <a:ext cx="714232" cy="764238"/>
            <a:chOff x="0" y="0"/>
            <a:chExt cx="952310" cy="10189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42706" y="4428258"/>
            <a:ext cx="14998951" cy="1142781"/>
            <a:chOff x="0" y="0"/>
            <a:chExt cx="19998601" cy="152370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142706" y="4328246"/>
            <a:ext cx="14998941" cy="1242793"/>
            <a:chOff x="0" y="0"/>
            <a:chExt cx="19998588" cy="165705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998589" cy="1657058"/>
            </a:xfrm>
            <a:custGeom>
              <a:avLst/>
              <a:gdLst/>
              <a:ahLst/>
              <a:cxnLst/>
              <a:rect r="r" b="b" t="t" l="l"/>
              <a:pathLst>
                <a:path h="1657058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657058"/>
                  </a:lnTo>
                  <a:lnTo>
                    <a:pt x="0" y="16570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59" r="0" b="-18515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33350"/>
              <a:ext cx="19998588" cy="1790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Bande moderee</a:t>
              </a:r>
              <a:r>
                <a:rPr lang="en-US" sz="2250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= seuil +/- max(diff, 10%) ; un nœud est heavy si le CPU ou la RAM depasse sa bande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974369" y="5546036"/>
            <a:ext cx="49997" cy="335661"/>
            <a:chOff x="0" y="0"/>
            <a:chExt cx="66662" cy="4475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57079" y="5856732"/>
            <a:ext cx="16570262" cy="1142810"/>
            <a:chOff x="0" y="0"/>
            <a:chExt cx="22093682" cy="152374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42781" y="6071006"/>
            <a:ext cx="714280" cy="714280"/>
            <a:chOff x="0" y="0"/>
            <a:chExt cx="952373" cy="95237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42781" y="6071006"/>
            <a:ext cx="714232" cy="714232"/>
            <a:chOff x="0" y="0"/>
            <a:chExt cx="952310" cy="9523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42781" y="6021000"/>
            <a:ext cx="714232" cy="764238"/>
            <a:chOff x="0" y="0"/>
            <a:chExt cx="952310" cy="1018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142706" y="5856732"/>
            <a:ext cx="14998951" cy="1142781"/>
            <a:chOff x="0" y="0"/>
            <a:chExt cx="19998601" cy="15237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142706" y="5756720"/>
            <a:ext cx="14998941" cy="1242793"/>
            <a:chOff x="0" y="0"/>
            <a:chExt cx="19998588" cy="165705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998589" cy="1657058"/>
            </a:xfrm>
            <a:custGeom>
              <a:avLst/>
              <a:gdLst/>
              <a:ahLst/>
              <a:cxnLst/>
              <a:rect r="r" b="b" t="t" l="l"/>
              <a:pathLst>
                <a:path h="1657058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657058"/>
                  </a:lnTo>
                  <a:lnTo>
                    <a:pt x="0" y="16570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159" r="0" b="-18515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33350"/>
              <a:ext cx="19998588" cy="17904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7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Pair: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heavy, light</a:t>
              </a:r>
              <a:r>
                <a:rPr lang="en-US" sz="2250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: le nœud surcharge cede une VM au nœud le plus leger, choisi par:</a:t>
              </a:r>
            </a:p>
            <a:p>
              <a:pPr algn="ctr">
                <a:lnSpc>
                  <a:spcPts val="4048"/>
                </a:lnSpc>
              </a:pPr>
              <a:r>
                <a:rPr lang="en-US" sz="2250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score = CPU x 0.7 + RAM x 0.3.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974369" y="6974510"/>
            <a:ext cx="49997" cy="335661"/>
            <a:chOff x="0" y="0"/>
            <a:chExt cx="66662" cy="4475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857079" y="7285206"/>
            <a:ext cx="16570262" cy="1142810"/>
            <a:chOff x="0" y="0"/>
            <a:chExt cx="22093682" cy="152374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42781" y="7499471"/>
            <a:ext cx="714280" cy="714280"/>
            <a:chOff x="0" y="0"/>
            <a:chExt cx="952373" cy="95237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42781" y="7499471"/>
            <a:ext cx="714232" cy="714232"/>
            <a:chOff x="0" y="0"/>
            <a:chExt cx="952310" cy="95231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42781" y="7449464"/>
            <a:ext cx="714232" cy="764238"/>
            <a:chOff x="0" y="0"/>
            <a:chExt cx="952310" cy="1018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142706" y="7428052"/>
            <a:ext cx="14998951" cy="857088"/>
            <a:chOff x="0" y="0"/>
            <a:chExt cx="19998601" cy="11427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9998562" cy="1142746"/>
            </a:xfrm>
            <a:custGeom>
              <a:avLst/>
              <a:gdLst/>
              <a:ahLst/>
              <a:cxnLst/>
              <a:rect r="r" b="b" t="t" l="l"/>
              <a:pathLst>
                <a:path h="1142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142746"/>
                  </a:lnTo>
                  <a:lnTo>
                    <a:pt x="0" y="1142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759" r="0" b="-290761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142706" y="7385190"/>
            <a:ext cx="14998941" cy="899941"/>
            <a:chOff x="0" y="0"/>
            <a:chExt cx="19998588" cy="119992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9998589" cy="1199922"/>
            </a:xfrm>
            <a:custGeom>
              <a:avLst/>
              <a:gdLst/>
              <a:ahLst/>
              <a:cxnLst/>
              <a:rect r="r" b="b" t="t" l="l"/>
              <a:pathLst>
                <a:path h="1199922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199922"/>
                  </a:lnTo>
                  <a:lnTo>
                    <a:pt x="0" y="11999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48" r="0" b="-27474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19998588" cy="12570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Migration a chaud</a:t>
              </a:r>
              <a:r>
                <a:rPr lang="en-US" sz="2250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via l'API Proxmox : 1 migration max par cycle de 60 s, puis cooldown de 5 min (anti-oscillation).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427350" y="9713605"/>
            <a:ext cx="571405" cy="428530"/>
            <a:chOff x="0" y="0"/>
            <a:chExt cx="761873" cy="57137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92" t="0" r="-46291" b="-2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7427350" y="9685030"/>
            <a:ext cx="571386" cy="457114"/>
            <a:chOff x="0" y="0"/>
            <a:chExt cx="761848" cy="60948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61848" cy="609485"/>
            </a:xfrm>
            <a:custGeom>
              <a:avLst/>
              <a:gdLst/>
              <a:ahLst/>
              <a:cxnLst/>
              <a:rect r="r" b="b" t="t" l="l"/>
              <a:pathLst>
                <a:path h="609485" w="761848">
                  <a:moveTo>
                    <a:pt x="0" y="0"/>
                  </a:moveTo>
                  <a:lnTo>
                    <a:pt x="761848" y="0"/>
                  </a:lnTo>
                  <a:lnTo>
                    <a:pt x="761848" y="609485"/>
                  </a:lnTo>
                  <a:lnTo>
                    <a:pt x="0" y="609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4" t="0" r="-52644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61848" cy="647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19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2"/>
            <a:chOff x="0" y="0"/>
            <a:chExt cx="17141647" cy="857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0"/>
            </a:xfrm>
            <a:custGeom>
              <a:avLst/>
              <a:gdLst/>
              <a:ahLst/>
              <a:cxnLst/>
              <a:rect r="r" b="b" t="t" l="l"/>
              <a:pathLst>
                <a:path h="857080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Modifications 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Apportées au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CSLB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57265" y="1571320"/>
            <a:ext cx="7956385" cy="1593726"/>
            <a:chOff x="0" y="0"/>
            <a:chExt cx="10651355" cy="21335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7265" y="3560968"/>
            <a:ext cx="7956385" cy="1593726"/>
            <a:chOff x="0" y="0"/>
            <a:chExt cx="10651355" cy="2133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7265" y="5459494"/>
            <a:ext cx="7956385" cy="1593726"/>
            <a:chOff x="0" y="0"/>
            <a:chExt cx="10651355" cy="21335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7265" y="7405645"/>
            <a:ext cx="7956385" cy="1593726"/>
            <a:chOff x="0" y="0"/>
            <a:chExt cx="10651355" cy="21335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347016" y="3513343"/>
            <a:ext cx="7956385" cy="1593726"/>
            <a:chOff x="0" y="0"/>
            <a:chExt cx="10651355" cy="21335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47016" y="5464330"/>
            <a:ext cx="7956385" cy="1593726"/>
            <a:chOff x="0" y="0"/>
            <a:chExt cx="10651355" cy="21335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47016" y="7415170"/>
            <a:ext cx="7956385" cy="1593726"/>
            <a:chOff x="0" y="0"/>
            <a:chExt cx="10651355" cy="21335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18450" y="1571320"/>
            <a:ext cx="7956385" cy="1593726"/>
            <a:chOff x="0" y="0"/>
            <a:chExt cx="10651355" cy="213354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51355" cy="2133587"/>
            </a:xfrm>
            <a:custGeom>
              <a:avLst/>
              <a:gdLst/>
              <a:ahLst/>
              <a:cxnLst/>
              <a:rect r="r" b="b" t="t" l="l"/>
              <a:pathLst>
                <a:path h="2133587" w="10651355">
                  <a:moveTo>
                    <a:pt x="264495" y="0"/>
                  </a:moveTo>
                  <a:lnTo>
                    <a:pt x="10386861" y="0"/>
                  </a:lnTo>
                  <a:cubicBezTo>
                    <a:pt x="10457009" y="0"/>
                    <a:pt x="10524284" y="27866"/>
                    <a:pt x="10573886" y="77469"/>
                  </a:cubicBezTo>
                  <a:cubicBezTo>
                    <a:pt x="10623489" y="127071"/>
                    <a:pt x="10651355" y="194346"/>
                    <a:pt x="10651355" y="264495"/>
                  </a:cubicBezTo>
                  <a:lnTo>
                    <a:pt x="10651355" y="1869093"/>
                  </a:lnTo>
                  <a:cubicBezTo>
                    <a:pt x="10651355" y="1939241"/>
                    <a:pt x="10623489" y="2006516"/>
                    <a:pt x="10573886" y="2056119"/>
                  </a:cubicBezTo>
                  <a:cubicBezTo>
                    <a:pt x="10524284" y="2105721"/>
                    <a:pt x="10457009" y="2133587"/>
                    <a:pt x="10386861" y="2133587"/>
                  </a:cubicBezTo>
                  <a:lnTo>
                    <a:pt x="264495" y="2133587"/>
                  </a:lnTo>
                  <a:cubicBezTo>
                    <a:pt x="118418" y="2133587"/>
                    <a:pt x="0" y="2015169"/>
                    <a:pt x="0" y="1869093"/>
                  </a:cubicBezTo>
                  <a:lnTo>
                    <a:pt x="0" y="264495"/>
                  </a:lnTo>
                  <a:cubicBezTo>
                    <a:pt x="0" y="194346"/>
                    <a:pt x="27866" y="127071"/>
                    <a:pt x="77469" y="77469"/>
                  </a:cubicBezTo>
                  <a:cubicBezTo>
                    <a:pt x="127071" y="27866"/>
                    <a:pt x="194346" y="0"/>
                    <a:pt x="264495" y="0"/>
                  </a:cubicBez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28553" y="1991820"/>
            <a:ext cx="714232" cy="714232"/>
            <a:chOff x="0" y="0"/>
            <a:chExt cx="952310" cy="9523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489738" y="1991820"/>
            <a:ext cx="714232" cy="714232"/>
            <a:chOff x="0" y="0"/>
            <a:chExt cx="952310" cy="9523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28553" y="3933843"/>
            <a:ext cx="714232" cy="714232"/>
            <a:chOff x="0" y="0"/>
            <a:chExt cx="952310" cy="9523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18303" y="3933843"/>
            <a:ext cx="714232" cy="714232"/>
            <a:chOff x="0" y="0"/>
            <a:chExt cx="952310" cy="9523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57119" y="5899241"/>
            <a:ext cx="714232" cy="714232"/>
            <a:chOff x="0" y="0"/>
            <a:chExt cx="952310" cy="9523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18303" y="5924549"/>
            <a:ext cx="714232" cy="714232"/>
            <a:chOff x="0" y="0"/>
            <a:chExt cx="952310" cy="9523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57119" y="7834270"/>
            <a:ext cx="714232" cy="714232"/>
            <a:chOff x="0" y="0"/>
            <a:chExt cx="952310" cy="9523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18303" y="7839106"/>
            <a:ext cx="714232" cy="714232"/>
            <a:chOff x="0" y="0"/>
            <a:chExt cx="952310" cy="9523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8553" y="1991820"/>
            <a:ext cx="714232" cy="714232"/>
            <a:chOff x="0" y="0"/>
            <a:chExt cx="952310" cy="9523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2314" cy="952314"/>
            </a:xfrm>
            <a:custGeom>
              <a:avLst/>
              <a:gdLst/>
              <a:ahLst/>
              <a:cxnLst/>
              <a:rect r="r" b="b" t="t" l="l"/>
              <a:pathLst>
                <a:path h="952314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52310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89738" y="1991820"/>
            <a:ext cx="714232" cy="714236"/>
            <a:chOff x="0" y="0"/>
            <a:chExt cx="952310" cy="95231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8553" y="3933843"/>
            <a:ext cx="714232" cy="714236"/>
            <a:chOff x="0" y="0"/>
            <a:chExt cx="952310" cy="95231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518303" y="3933843"/>
            <a:ext cx="714232" cy="714236"/>
            <a:chOff x="0" y="0"/>
            <a:chExt cx="952310" cy="95231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57119" y="5904077"/>
            <a:ext cx="714232" cy="714236"/>
            <a:chOff x="0" y="0"/>
            <a:chExt cx="952310" cy="95231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18303" y="5924549"/>
            <a:ext cx="714232" cy="714236"/>
            <a:chOff x="0" y="0"/>
            <a:chExt cx="952310" cy="95231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7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57119" y="7839106"/>
            <a:ext cx="714232" cy="714236"/>
            <a:chOff x="0" y="0"/>
            <a:chExt cx="952310" cy="95231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518303" y="7877206"/>
            <a:ext cx="714232" cy="714236"/>
            <a:chOff x="0" y="0"/>
            <a:chExt cx="952310" cy="95231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2314" cy="952318"/>
            </a:xfrm>
            <a:custGeom>
              <a:avLst/>
              <a:gdLst/>
              <a:ahLst/>
              <a:cxnLst/>
              <a:rect r="r" b="b" t="t" l="l"/>
              <a:pathLst>
                <a:path h="952318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952310" cy="10189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8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247585" y="1796795"/>
            <a:ext cx="6461742" cy="1142777"/>
            <a:chOff x="0" y="0"/>
            <a:chExt cx="8615656" cy="152370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615662" cy="1523697"/>
            </a:xfrm>
            <a:custGeom>
              <a:avLst/>
              <a:gdLst/>
              <a:ahLst/>
              <a:cxnLst/>
              <a:rect r="r" b="b" t="t" l="l"/>
              <a:pathLst>
                <a:path h="1523697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-132118" b="-2057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33350"/>
              <a:ext cx="8615656" cy="165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RAM prise </a:t>
              </a: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en compte :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CLBS surveille à la fois le CPU et la RAM pour détecter les surcharges.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508770" y="1789541"/>
            <a:ext cx="6461742" cy="1142777"/>
            <a:chOff x="0" y="0"/>
            <a:chExt cx="8615656" cy="15237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615662" cy="1523697"/>
            </a:xfrm>
            <a:custGeom>
              <a:avLst/>
              <a:gdLst/>
              <a:ahLst/>
              <a:cxnLst/>
              <a:rect r="r" b="b" t="t" l="l"/>
              <a:pathLst>
                <a:path h="1523697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-132118" b="-20574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33350"/>
              <a:ext cx="8615656" cy="165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Exé</a:t>
              </a: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cution : 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vérification toutes les 60 s, avec une seule migration par cycle.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247585" y="3786443"/>
            <a:ext cx="6461742" cy="1142777"/>
            <a:chOff x="0" y="0"/>
            <a:chExt cx="8615656" cy="152370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615662" cy="1523697"/>
            </a:xfrm>
            <a:custGeom>
              <a:avLst/>
              <a:gdLst/>
              <a:ahLst/>
              <a:cxnLst/>
              <a:rect r="r" b="b" t="t" l="l"/>
              <a:pathLst>
                <a:path h="1523697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-132118" b="-20574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33350"/>
              <a:ext cx="8615656" cy="165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Seuil d</a:t>
              </a: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 migration : 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migration uniquement si la charge dépasse 50 %.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537336" y="5689806"/>
            <a:ext cx="6461742" cy="1142777"/>
            <a:chOff x="0" y="0"/>
            <a:chExt cx="8615656" cy="152370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615662" cy="1523697"/>
            </a:xfrm>
            <a:custGeom>
              <a:avLst/>
              <a:gdLst/>
              <a:ahLst/>
              <a:cxnLst/>
              <a:rect r="r" b="b" t="t" l="l"/>
              <a:pathLst>
                <a:path h="1523697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-132118" b="-20574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33350"/>
              <a:ext cx="8615656" cy="165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Une VM récemm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ent migrée ne peut pas être migrée à nouveau immédiatement.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276151" y="5684968"/>
            <a:ext cx="6461742" cy="1142777"/>
            <a:chOff x="0" y="0"/>
            <a:chExt cx="8615656" cy="152370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615662" cy="1523697"/>
            </a:xfrm>
            <a:custGeom>
              <a:avLst/>
              <a:gdLst/>
              <a:ahLst/>
              <a:cxnLst/>
              <a:rect r="r" b="b" t="t" l="l"/>
              <a:pathLst>
                <a:path h="1523697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-132118" b="-20574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33350"/>
              <a:ext cx="8615656" cy="165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Choix de la d</a:t>
              </a: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estination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: sélection du nœud le plus adapté selon un score pondéré CPU/RAM.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537336" y="3622535"/>
            <a:ext cx="6461742" cy="1375342"/>
            <a:chOff x="0" y="0"/>
            <a:chExt cx="8615656" cy="183378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615662" cy="1833783"/>
            </a:xfrm>
            <a:custGeom>
              <a:avLst/>
              <a:gdLst/>
              <a:ahLst/>
              <a:cxnLst/>
              <a:rect r="r" b="b" t="t" l="l"/>
              <a:pathLst>
                <a:path h="1833783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833783"/>
                  </a:lnTo>
                  <a:lnTo>
                    <a:pt x="0" y="18337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951" r="-132118" b="-15404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33350"/>
              <a:ext cx="8615656" cy="1967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Anti-oscillatio</a:t>
              </a: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n : 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limitation des migrations répétitives et suspension temporaire en cas d’activité excessive.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2247585" y="7592835"/>
            <a:ext cx="6461742" cy="1142777"/>
            <a:chOff x="0" y="0"/>
            <a:chExt cx="8615656" cy="152370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615662" cy="1523697"/>
            </a:xfrm>
            <a:custGeom>
              <a:avLst/>
              <a:gdLst/>
              <a:ahLst/>
              <a:cxnLst/>
              <a:rect r="r" b="b" t="t" l="l"/>
              <a:pathLst>
                <a:path h="1523697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523697"/>
                  </a:lnTo>
                  <a:lnTo>
                    <a:pt x="0" y="1523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1" r="-132118" b="-20574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33350"/>
              <a:ext cx="8615656" cy="165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VMs </a:t>
              </a:r>
              <a:r>
                <a:rPr lang="en-US" sz="22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exclues : 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OPNsense, Monitoring et CLBS ne sont jamais migrées.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537336" y="7476553"/>
            <a:ext cx="6461742" cy="1375342"/>
            <a:chOff x="0" y="0"/>
            <a:chExt cx="8615656" cy="183378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615662" cy="1833783"/>
            </a:xfrm>
            <a:custGeom>
              <a:avLst/>
              <a:gdLst/>
              <a:ahLst/>
              <a:cxnLst/>
              <a:rect r="r" b="b" t="t" l="l"/>
              <a:pathLst>
                <a:path h="1833783" w="8615662">
                  <a:moveTo>
                    <a:pt x="0" y="0"/>
                  </a:moveTo>
                  <a:lnTo>
                    <a:pt x="8615662" y="0"/>
                  </a:lnTo>
                  <a:lnTo>
                    <a:pt x="8615662" y="1833783"/>
                  </a:lnTo>
                  <a:lnTo>
                    <a:pt x="0" y="18337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951" r="-132118" b="-15404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33350"/>
              <a:ext cx="8615656" cy="1967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9"/>
                </a:lnSpc>
              </a:pP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Avant de migrer, le CLBS simul</a:t>
              </a:r>
              <a:r>
                <a:rPr lang="en-US" sz="2249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l'impact sur le nœud destination si ça risque de le surcharger, il choisit une autre VM.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985085" y="2889168"/>
            <a:ext cx="28565" cy="367000"/>
            <a:chOff x="0" y="0"/>
            <a:chExt cx="38087" cy="48933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8100" cy="489274"/>
            </a:xfrm>
            <a:custGeom>
              <a:avLst/>
              <a:gdLst/>
              <a:ahLst/>
              <a:cxnLst/>
              <a:rect r="r" b="b" t="t" l="l"/>
              <a:pathLst>
                <a:path h="489274" w="38100">
                  <a:moveTo>
                    <a:pt x="0" y="0"/>
                  </a:moveTo>
                  <a:lnTo>
                    <a:pt x="38100" y="489274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14358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7274835" y="2699814"/>
            <a:ext cx="28565" cy="314268"/>
            <a:chOff x="0" y="0"/>
            <a:chExt cx="38087" cy="41902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013650" y="4729853"/>
            <a:ext cx="28565" cy="338779"/>
            <a:chOff x="0" y="0"/>
            <a:chExt cx="38087" cy="45170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100" cy="451651"/>
            </a:xfrm>
            <a:custGeom>
              <a:avLst/>
              <a:gdLst/>
              <a:ahLst/>
              <a:cxnLst/>
              <a:rect r="r" b="b" t="t" l="l"/>
              <a:pathLst>
                <a:path h="451651" w="38100">
                  <a:moveTo>
                    <a:pt x="0" y="0"/>
                  </a:moveTo>
                  <a:lnTo>
                    <a:pt x="38100" y="451651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7223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7274835" y="4325018"/>
            <a:ext cx="28565" cy="314268"/>
            <a:chOff x="0" y="0"/>
            <a:chExt cx="38087" cy="41902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7246270" y="5946925"/>
            <a:ext cx="28565" cy="314268"/>
            <a:chOff x="0" y="0"/>
            <a:chExt cx="38087" cy="41902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7217704" y="7568832"/>
            <a:ext cx="28565" cy="314268"/>
            <a:chOff x="0" y="0"/>
            <a:chExt cx="38087" cy="4190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7230735" y="2722825"/>
            <a:ext cx="28565" cy="314268"/>
            <a:chOff x="0" y="0"/>
            <a:chExt cx="38087" cy="41902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7230735" y="5068632"/>
            <a:ext cx="28565" cy="314268"/>
            <a:chOff x="0" y="0"/>
            <a:chExt cx="38087" cy="41902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7230735" y="4151290"/>
            <a:ext cx="28565" cy="314268"/>
            <a:chOff x="0" y="0"/>
            <a:chExt cx="38087" cy="41902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7230735" y="5579763"/>
            <a:ext cx="28565" cy="314268"/>
            <a:chOff x="0" y="0"/>
            <a:chExt cx="38087" cy="41902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7230735" y="7008237"/>
            <a:ext cx="28565" cy="314268"/>
            <a:chOff x="0" y="0"/>
            <a:chExt cx="38087" cy="41902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8100" cy="418973"/>
            </a:xfrm>
            <a:custGeom>
              <a:avLst/>
              <a:gdLst/>
              <a:ahLst/>
              <a:cxnLst/>
              <a:rect r="r" b="b" t="t" l="l"/>
              <a:pathLst>
                <a:path h="418973" w="38100">
                  <a:moveTo>
                    <a:pt x="0" y="0"/>
                  </a:moveTo>
                  <a:lnTo>
                    <a:pt x="38100" y="418973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1361099" t="0" r="-1361066" b="-12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53027"/>
            <a:ext cx="16230600" cy="6390799"/>
          </a:xfrm>
          <a:custGeom>
            <a:avLst/>
            <a:gdLst/>
            <a:ahLst/>
            <a:cxnLst/>
            <a:rect r="r" b="b" t="t" l="l"/>
            <a:pathLst>
              <a:path h="6390799" w="16230600">
                <a:moveTo>
                  <a:pt x="0" y="0"/>
                </a:moveTo>
                <a:lnTo>
                  <a:pt x="16230600" y="0"/>
                </a:lnTo>
                <a:lnTo>
                  <a:pt x="16230600" y="6390799"/>
                </a:lnTo>
                <a:lnTo>
                  <a:pt x="0" y="6390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3163" y="1290385"/>
            <a:ext cx="7399100" cy="96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3"/>
              </a:lnSpc>
              <a:spcBef>
                <a:spcPct val="0"/>
              </a:spcBef>
            </a:pPr>
            <a:r>
              <a:rPr lang="en-US" b="true" sz="491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Couche Stockage : Ceph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21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956559"/>
            <a:ext cx="16603482" cy="8301741"/>
          </a:xfrm>
          <a:custGeom>
            <a:avLst/>
            <a:gdLst/>
            <a:ahLst/>
            <a:cxnLst/>
            <a:rect r="r" b="b" t="t" l="l"/>
            <a:pathLst>
              <a:path h="8301741" w="16603482">
                <a:moveTo>
                  <a:pt x="0" y="0"/>
                </a:moveTo>
                <a:lnTo>
                  <a:pt x="16603482" y="0"/>
                </a:lnTo>
                <a:lnTo>
                  <a:pt x="16603482" y="8301741"/>
                </a:lnTo>
                <a:lnTo>
                  <a:pt x="0" y="8301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41766" y="4401319"/>
            <a:ext cx="7346234" cy="4122176"/>
          </a:xfrm>
          <a:custGeom>
            <a:avLst/>
            <a:gdLst/>
            <a:ahLst/>
            <a:cxnLst/>
            <a:rect r="r" b="b" t="t" l="l"/>
            <a:pathLst>
              <a:path h="4122176" w="7346234">
                <a:moveTo>
                  <a:pt x="0" y="0"/>
                </a:moveTo>
                <a:lnTo>
                  <a:pt x="7346234" y="0"/>
                </a:lnTo>
                <a:lnTo>
                  <a:pt x="7346234" y="4122176"/>
                </a:lnTo>
                <a:lnTo>
                  <a:pt x="0" y="4122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26" r="0" b="-658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3"/>
            </a:xfrm>
            <a:custGeom>
              <a:avLst/>
              <a:gdLst/>
              <a:ahLst/>
              <a:cxnLst/>
              <a:rect r="r" b="b" t="t" l="l"/>
              <a:pathLst>
                <a:path h="857083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RESEAU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OVS + VXLAN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373504" y="1708591"/>
            <a:ext cx="9540992" cy="7896584"/>
          </a:xfrm>
          <a:custGeom>
            <a:avLst/>
            <a:gdLst/>
            <a:ahLst/>
            <a:cxnLst/>
            <a:rect r="r" b="b" t="t" l="l"/>
            <a:pathLst>
              <a:path h="7896584" w="9540992">
                <a:moveTo>
                  <a:pt x="0" y="0"/>
                </a:moveTo>
                <a:lnTo>
                  <a:pt x="9540992" y="0"/>
                </a:lnTo>
                <a:lnTo>
                  <a:pt x="9540992" y="7896584"/>
                </a:lnTo>
                <a:lnTo>
                  <a:pt x="0" y="7896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23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498" y="1295734"/>
            <a:ext cx="16775004" cy="7695533"/>
          </a:xfrm>
          <a:custGeom>
            <a:avLst/>
            <a:gdLst/>
            <a:ahLst/>
            <a:cxnLst/>
            <a:rect r="r" b="b" t="t" l="l"/>
            <a:pathLst>
              <a:path h="7695533" w="16775004">
                <a:moveTo>
                  <a:pt x="0" y="0"/>
                </a:moveTo>
                <a:lnTo>
                  <a:pt x="16775004" y="0"/>
                </a:lnTo>
                <a:lnTo>
                  <a:pt x="16775004" y="7695532"/>
                </a:lnTo>
                <a:lnTo>
                  <a:pt x="0" y="7695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079" y="571386"/>
            <a:ext cx="12856235" cy="642812"/>
            <a:chOff x="0" y="0"/>
            <a:chExt cx="17141647" cy="8570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141653" cy="857080"/>
            </a:xfrm>
            <a:custGeom>
              <a:avLst/>
              <a:gdLst/>
              <a:ahLst/>
              <a:cxnLst/>
              <a:rect r="r" b="b" t="t" l="l"/>
              <a:pathLst>
                <a:path h="857080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7141647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9 Segmenets logics de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VXLAN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24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511" y="1561543"/>
            <a:ext cx="9999297" cy="697824"/>
            <a:chOff x="0" y="0"/>
            <a:chExt cx="13332396" cy="930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396" cy="930430"/>
            </a:xfrm>
            <a:custGeom>
              <a:avLst/>
              <a:gdLst/>
              <a:ahLst/>
              <a:cxnLst/>
              <a:rect r="r" b="b" t="t" l="l"/>
              <a:pathLst>
                <a:path h="930430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930430"/>
                  </a:lnTo>
                  <a:lnTo>
                    <a:pt x="0" y="9304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148" r="0" b="-2252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332396" cy="1016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OPN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SENSE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8511" y="3028754"/>
            <a:ext cx="5285346" cy="2285552"/>
            <a:chOff x="0" y="0"/>
            <a:chExt cx="7047128" cy="304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2786" y="3171600"/>
            <a:ext cx="714232" cy="571386"/>
            <a:chOff x="0" y="0"/>
            <a:chExt cx="952310" cy="7618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28446" y="3171600"/>
            <a:ext cx="4071147" cy="1999859"/>
            <a:chOff x="0" y="0"/>
            <a:chExt cx="5428196" cy="26664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VM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OPNsense : routeur centralisé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70978" y="3028754"/>
            <a:ext cx="5285346" cy="2285552"/>
            <a:chOff x="0" y="0"/>
            <a:chExt cx="7047128" cy="30474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85243" y="3171600"/>
            <a:ext cx="714232" cy="571386"/>
            <a:chOff x="0" y="0"/>
            <a:chExt cx="952310" cy="761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70903" y="3171600"/>
            <a:ext cx="4071147" cy="1999859"/>
            <a:chOff x="0" y="0"/>
            <a:chExt cx="5428196" cy="26664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Pare-f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eu inter-zon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13436" y="3028754"/>
            <a:ext cx="5285346" cy="2285552"/>
            <a:chOff x="0" y="0"/>
            <a:chExt cx="7047128" cy="30474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427710" y="3171600"/>
            <a:ext cx="714232" cy="571386"/>
            <a:chOff x="0" y="0"/>
            <a:chExt cx="952310" cy="7618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13371" y="3171600"/>
            <a:ext cx="4071147" cy="1999859"/>
            <a:chOff x="0" y="0"/>
            <a:chExt cx="5428196" cy="26664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Filtr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age applicatif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8511" y="5742845"/>
            <a:ext cx="5285346" cy="2285552"/>
            <a:chOff x="0" y="0"/>
            <a:chExt cx="7047128" cy="30474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42786" y="5885692"/>
            <a:ext cx="714232" cy="571386"/>
            <a:chOff x="0" y="0"/>
            <a:chExt cx="952310" cy="7618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28446" y="5885692"/>
            <a:ext cx="4071147" cy="1999859"/>
            <a:chOff x="0" y="0"/>
            <a:chExt cx="5428196" cy="26664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ouble filtrage : OPNsense (applicatif) + Proxmox firewall (hyperviseur)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70978" y="5742845"/>
            <a:ext cx="5285346" cy="2285552"/>
            <a:chOff x="0" y="0"/>
            <a:chExt cx="7047128" cy="30474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85243" y="5885692"/>
            <a:ext cx="714232" cy="590452"/>
            <a:chOff x="0" y="0"/>
            <a:chExt cx="952310" cy="7872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2314" cy="787273"/>
            </a:xfrm>
            <a:custGeom>
              <a:avLst/>
              <a:gdLst/>
              <a:ahLst/>
              <a:cxnLst/>
              <a:rect r="r" b="b" t="t" l="l"/>
              <a:pathLst>
                <a:path h="787273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87273"/>
                  </a:lnTo>
                  <a:lnTo>
                    <a:pt x="0" y="787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32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952310" cy="872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11"/>
                </a:lnSpc>
              </a:pPr>
              <a:r>
                <a:rPr lang="en-US" sz="35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70903" y="5885692"/>
            <a:ext cx="4071147" cy="1999859"/>
            <a:chOff x="0" y="0"/>
            <a:chExt cx="5428196" cy="26664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Règ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les DENY ALL avec exceptions explicites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13436" y="5742845"/>
            <a:ext cx="5285346" cy="2285552"/>
            <a:chOff x="0" y="0"/>
            <a:chExt cx="7047128" cy="30474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427710" y="5885692"/>
            <a:ext cx="714232" cy="590452"/>
            <a:chOff x="0" y="0"/>
            <a:chExt cx="952310" cy="7872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2314" cy="787273"/>
            </a:xfrm>
            <a:custGeom>
              <a:avLst/>
              <a:gdLst/>
              <a:ahLst/>
              <a:cxnLst/>
              <a:rect r="r" b="b" t="t" l="l"/>
              <a:pathLst>
                <a:path h="787273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87273"/>
                  </a:lnTo>
                  <a:lnTo>
                    <a:pt x="0" y="787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322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952310" cy="872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11"/>
                </a:lnSpc>
              </a:pPr>
              <a:r>
                <a:rPr lang="en-US" sz="35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213371" y="5885692"/>
            <a:ext cx="4071147" cy="1999859"/>
            <a:chOff x="0" y="0"/>
            <a:chExt cx="5428196" cy="266647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Audit 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et logging des flux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7085" y="1552205"/>
            <a:ext cx="11653829" cy="7706095"/>
          </a:xfrm>
          <a:custGeom>
            <a:avLst/>
            <a:gdLst/>
            <a:ahLst/>
            <a:cxnLst/>
            <a:rect r="r" b="b" t="t" l="l"/>
            <a:pathLst>
              <a:path h="7706095" w="11653829">
                <a:moveTo>
                  <a:pt x="0" y="0"/>
                </a:moveTo>
                <a:lnTo>
                  <a:pt x="11653830" y="0"/>
                </a:lnTo>
                <a:lnTo>
                  <a:pt x="11653830" y="7706095"/>
                </a:lnTo>
                <a:lnTo>
                  <a:pt x="0" y="7706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13945"/>
            <a:ext cx="12856235" cy="84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56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Architecture du pare-feu proxmox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141653" cy="857083"/>
            </a:xfrm>
            <a:custGeom>
              <a:avLst/>
              <a:gdLst/>
              <a:ahLst/>
              <a:cxnLst/>
              <a:rect r="r" b="b" t="t" l="l"/>
              <a:pathLst>
                <a:path h="857083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7141647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MONITORING ET 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ALERTING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714167"/>
            <a:ext cx="5285346" cy="2999784"/>
            <a:chOff x="0" y="0"/>
            <a:chExt cx="7047128" cy="3999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7103" cy="3999738"/>
            </a:xfrm>
            <a:custGeom>
              <a:avLst/>
              <a:gdLst/>
              <a:ahLst/>
              <a:cxnLst/>
              <a:rect r="r" b="b" t="t" l="l"/>
              <a:pathLst>
                <a:path h="3999738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999738"/>
                  </a:lnTo>
                  <a:lnTo>
                    <a:pt x="0" y="3999738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91405" y="2319155"/>
            <a:ext cx="4856797" cy="555568"/>
            <a:chOff x="0" y="0"/>
            <a:chExt cx="6475730" cy="7407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5735" cy="740760"/>
            </a:xfrm>
            <a:custGeom>
              <a:avLst/>
              <a:gdLst/>
              <a:ahLst/>
              <a:cxnLst/>
              <a:rect r="r" b="b" t="t" l="l"/>
              <a:pathLst>
                <a:path h="740760" w="6475735">
                  <a:moveTo>
                    <a:pt x="0" y="0"/>
                  </a:moveTo>
                  <a:lnTo>
                    <a:pt x="6475735" y="0"/>
                  </a:lnTo>
                  <a:lnTo>
                    <a:pt x="6475735" y="740760"/>
                  </a:lnTo>
                  <a:lnTo>
                    <a:pt x="0" y="74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770" r="0" b="-1089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6475730" cy="826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24"/>
                </a:lnSpc>
              </a:pPr>
              <a:r>
                <a:rPr lang="en-US" sz="33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Prometheus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99546" y="1714167"/>
            <a:ext cx="5285346" cy="2999784"/>
            <a:chOff x="0" y="0"/>
            <a:chExt cx="7047128" cy="39997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7103" cy="3999738"/>
            </a:xfrm>
            <a:custGeom>
              <a:avLst/>
              <a:gdLst/>
              <a:ahLst/>
              <a:cxnLst/>
              <a:rect r="r" b="b" t="t" l="l"/>
              <a:pathLst>
                <a:path h="3999738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999738"/>
                  </a:lnTo>
                  <a:lnTo>
                    <a:pt x="0" y="3999738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28094" y="2305344"/>
            <a:ext cx="4856797" cy="555568"/>
            <a:chOff x="0" y="0"/>
            <a:chExt cx="6475730" cy="7407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75735" cy="740760"/>
            </a:xfrm>
            <a:custGeom>
              <a:avLst/>
              <a:gdLst/>
              <a:ahLst/>
              <a:cxnLst/>
              <a:rect r="r" b="b" t="t" l="l"/>
              <a:pathLst>
                <a:path h="740760" w="6475735">
                  <a:moveTo>
                    <a:pt x="0" y="0"/>
                  </a:moveTo>
                  <a:lnTo>
                    <a:pt x="6475735" y="0"/>
                  </a:lnTo>
                  <a:lnTo>
                    <a:pt x="6475735" y="740760"/>
                  </a:lnTo>
                  <a:lnTo>
                    <a:pt x="0" y="740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770" r="0" b="-1089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6475730" cy="8264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24"/>
                </a:lnSpc>
              </a:pPr>
              <a:r>
                <a:rPr lang="en-US" sz="33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InfluxDB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42003" y="1714167"/>
            <a:ext cx="5285346" cy="2999784"/>
            <a:chOff x="0" y="0"/>
            <a:chExt cx="7047128" cy="39997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7103" cy="3999738"/>
            </a:xfrm>
            <a:custGeom>
              <a:avLst/>
              <a:gdLst/>
              <a:ahLst/>
              <a:cxnLst/>
              <a:rect r="r" b="b" t="t" l="l"/>
              <a:pathLst>
                <a:path h="3999738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999738"/>
                  </a:lnTo>
                  <a:lnTo>
                    <a:pt x="0" y="3999738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84859" y="2498195"/>
            <a:ext cx="4856797" cy="573012"/>
            <a:chOff x="0" y="0"/>
            <a:chExt cx="6475730" cy="7640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75735" cy="764019"/>
            </a:xfrm>
            <a:custGeom>
              <a:avLst/>
              <a:gdLst/>
              <a:ahLst/>
              <a:cxnLst/>
              <a:rect r="r" b="b" t="t" l="l"/>
              <a:pathLst>
                <a:path h="764019" w="6475735">
                  <a:moveTo>
                    <a:pt x="0" y="0"/>
                  </a:moveTo>
                  <a:lnTo>
                    <a:pt x="6475735" y="0"/>
                  </a:lnTo>
                  <a:lnTo>
                    <a:pt x="6475735" y="764019"/>
                  </a:lnTo>
                  <a:lnTo>
                    <a:pt x="0" y="764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759" r="0" b="-1025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6475730" cy="849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67"/>
                </a:lnSpc>
              </a:pPr>
              <a:r>
                <a:rPr lang="en-US" sz="3449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Loki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7079" y="5285346"/>
            <a:ext cx="8070866" cy="2856938"/>
            <a:chOff x="0" y="0"/>
            <a:chExt cx="10761154" cy="38092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61091" cy="3809238"/>
            </a:xfrm>
            <a:custGeom>
              <a:avLst/>
              <a:gdLst/>
              <a:ahLst/>
              <a:cxnLst/>
              <a:rect r="r" b="b" t="t" l="l"/>
              <a:pathLst>
                <a:path h="3809238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3809238"/>
                  </a:lnTo>
                  <a:lnTo>
                    <a:pt x="0" y="3809238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42706" y="5571039"/>
            <a:ext cx="6499546" cy="499967"/>
            <a:chOff x="0" y="0"/>
            <a:chExt cx="8666061" cy="6666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66057" cy="666620"/>
            </a:xfrm>
            <a:custGeom>
              <a:avLst/>
              <a:gdLst/>
              <a:ahLst/>
              <a:cxnLst/>
              <a:rect r="r" b="b" t="t" l="l"/>
              <a:pathLst>
                <a:path h="666620" w="8666057">
                  <a:moveTo>
                    <a:pt x="0" y="0"/>
                  </a:moveTo>
                  <a:lnTo>
                    <a:pt x="8666057" y="0"/>
                  </a:lnTo>
                  <a:lnTo>
                    <a:pt x="8666057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8666061" cy="7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3"/>
                </a:lnSpc>
              </a:pPr>
              <a:r>
                <a:rPr lang="en-US" b="true" sz="2474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AlertManager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56484" y="5285346"/>
            <a:ext cx="8070866" cy="2856938"/>
            <a:chOff x="0" y="0"/>
            <a:chExt cx="10761154" cy="38092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1091" cy="3809238"/>
            </a:xfrm>
            <a:custGeom>
              <a:avLst/>
              <a:gdLst/>
              <a:ahLst/>
              <a:cxnLst/>
              <a:rect r="r" b="b" t="t" l="l"/>
              <a:pathLst>
                <a:path h="3809238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3809238"/>
                  </a:lnTo>
                  <a:lnTo>
                    <a:pt x="0" y="3809238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9713605" y="5463907"/>
            <a:ext cx="714232" cy="714232"/>
          </a:xfrm>
          <a:custGeom>
            <a:avLst/>
            <a:gdLst/>
            <a:ahLst/>
            <a:cxnLst/>
            <a:rect r="r" b="b" t="t" l="l"/>
            <a:pathLst>
              <a:path h="714232" w="714232">
                <a:moveTo>
                  <a:pt x="0" y="0"/>
                </a:moveTo>
                <a:lnTo>
                  <a:pt x="714232" y="0"/>
                </a:lnTo>
                <a:lnTo>
                  <a:pt x="714232" y="714232"/>
                </a:lnTo>
                <a:lnTo>
                  <a:pt x="0" y="714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0642111" y="5571039"/>
            <a:ext cx="6499546" cy="499967"/>
            <a:chOff x="0" y="0"/>
            <a:chExt cx="8666061" cy="6666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66057" cy="666620"/>
            </a:xfrm>
            <a:custGeom>
              <a:avLst/>
              <a:gdLst/>
              <a:ahLst/>
              <a:cxnLst/>
              <a:rect r="r" b="b" t="t" l="l"/>
              <a:pathLst>
                <a:path h="666620" w="8666057">
                  <a:moveTo>
                    <a:pt x="0" y="0"/>
                  </a:moveTo>
                  <a:lnTo>
                    <a:pt x="8666057" y="0"/>
                  </a:lnTo>
                  <a:lnTo>
                    <a:pt x="8666057" y="666620"/>
                  </a:lnTo>
                  <a:lnTo>
                    <a:pt x="0" y="66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8666061" cy="733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3"/>
                </a:lnSpc>
              </a:pPr>
              <a:r>
                <a:rPr lang="en-US" sz="247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Seuils Configures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27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230111" y="5419763"/>
            <a:ext cx="722588" cy="733245"/>
          </a:xfrm>
          <a:custGeom>
            <a:avLst/>
            <a:gdLst/>
            <a:ahLst/>
            <a:cxnLst/>
            <a:rect r="r" b="b" t="t" l="l"/>
            <a:pathLst>
              <a:path h="733245" w="722588">
                <a:moveTo>
                  <a:pt x="0" y="0"/>
                </a:moveTo>
                <a:lnTo>
                  <a:pt x="722588" y="0"/>
                </a:lnTo>
                <a:lnTo>
                  <a:pt x="722588" y="733245"/>
                </a:lnTo>
                <a:lnTo>
                  <a:pt x="0" y="733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501036" y="1880779"/>
            <a:ext cx="1502484" cy="1404699"/>
          </a:xfrm>
          <a:custGeom>
            <a:avLst/>
            <a:gdLst/>
            <a:ahLst/>
            <a:cxnLst/>
            <a:rect r="r" b="b" t="t" l="l"/>
            <a:pathLst>
              <a:path h="1404699" w="1502484">
                <a:moveTo>
                  <a:pt x="0" y="0"/>
                </a:moveTo>
                <a:lnTo>
                  <a:pt x="1502484" y="0"/>
                </a:lnTo>
                <a:lnTo>
                  <a:pt x="1502484" y="1404698"/>
                </a:lnTo>
                <a:lnTo>
                  <a:pt x="0" y="1404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1050" t="0" r="-48806" b="-32676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004693" y="1908202"/>
            <a:ext cx="1270169" cy="1270169"/>
          </a:xfrm>
          <a:custGeom>
            <a:avLst/>
            <a:gdLst/>
            <a:ahLst/>
            <a:cxnLst/>
            <a:rect r="r" b="b" t="t" l="l"/>
            <a:pathLst>
              <a:path h="1270169" w="1270169">
                <a:moveTo>
                  <a:pt x="0" y="0"/>
                </a:moveTo>
                <a:lnTo>
                  <a:pt x="1270169" y="0"/>
                </a:lnTo>
                <a:lnTo>
                  <a:pt x="1270169" y="1270168"/>
                </a:lnTo>
                <a:lnTo>
                  <a:pt x="0" y="12701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32359" y="1946678"/>
            <a:ext cx="1321223" cy="1319572"/>
          </a:xfrm>
          <a:custGeom>
            <a:avLst/>
            <a:gdLst/>
            <a:ahLst/>
            <a:cxnLst/>
            <a:rect r="r" b="b" t="t" l="l"/>
            <a:pathLst>
              <a:path h="1319572" w="1321223">
                <a:moveTo>
                  <a:pt x="0" y="0"/>
                </a:moveTo>
                <a:lnTo>
                  <a:pt x="1321223" y="0"/>
                </a:lnTo>
                <a:lnTo>
                  <a:pt x="1321223" y="1319571"/>
                </a:lnTo>
                <a:lnTo>
                  <a:pt x="0" y="131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071353" y="3515838"/>
            <a:ext cx="4856797" cy="82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1999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Collecte des metriques systeme avec scraping periodique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499546" y="3515838"/>
            <a:ext cx="4856797" cy="82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1999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Stockage des series temporelles pour l'historique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356392" y="3515838"/>
            <a:ext cx="4856797" cy="82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1999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Aggregation et recherche centralisee des logs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4199" y="6161446"/>
            <a:ext cx="7428052" cy="169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024">
                <a:solidFill>
                  <a:srgbClr val="1A2B4A"/>
                </a:solidFill>
                <a:latin typeface="Quattrocento"/>
                <a:ea typeface="Quattrocento"/>
                <a:cs typeface="Quattrocento"/>
                <a:sym typeface="Quattrocento"/>
              </a:rPr>
              <a:t>Notifications automatiques par email et webhook</a:t>
            </a:r>
          </a:p>
          <a:p>
            <a:pPr algn="l">
              <a:lnSpc>
                <a:spcPts val="3644"/>
              </a:lnSpc>
            </a:pPr>
            <a:r>
              <a:rPr lang="en-US" sz="2024">
                <a:solidFill>
                  <a:srgbClr val="1A2B4A"/>
                </a:solidFill>
                <a:latin typeface="Quattrocento"/>
                <a:ea typeface="Quattrocento"/>
                <a:cs typeface="Quattrocento"/>
                <a:sym typeface="Quattrocento"/>
              </a:rPr>
              <a:t>Seuils d'alerte configures par service</a:t>
            </a:r>
          </a:p>
          <a:p>
            <a:pPr algn="l">
              <a:lnSpc>
                <a:spcPts val="3644"/>
              </a:lnSpc>
            </a:pPr>
            <a:r>
              <a:rPr lang="en-US" sz="2024">
                <a:solidFill>
                  <a:srgbClr val="1A2B4A"/>
                </a:solidFill>
                <a:latin typeface="Quattrocento"/>
                <a:ea typeface="Quattrocento"/>
                <a:cs typeface="Quattrocento"/>
                <a:sym typeface="Quattrocento"/>
              </a:rPr>
              <a:t>Escalade et regroupement d'alertes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13605" y="6299540"/>
            <a:ext cx="7428052" cy="169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02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CPU &gt; 80% : Warning | &gt; 95% : Critical</a:t>
            </a:r>
          </a:p>
          <a:p>
            <a:pPr algn="l">
              <a:lnSpc>
                <a:spcPts val="3644"/>
              </a:lnSpc>
            </a:pPr>
            <a:r>
              <a:rPr lang="en-US" sz="202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RAM &gt; 85% : Warning | &gt; 95% : Critical</a:t>
            </a:r>
          </a:p>
          <a:p>
            <a:pPr algn="l">
              <a:lnSpc>
                <a:spcPts val="3644"/>
              </a:lnSpc>
            </a:pPr>
            <a:r>
              <a:rPr lang="en-US" sz="2024">
                <a:solidFill>
                  <a:srgbClr val="333333"/>
                </a:solidFill>
                <a:latin typeface="Quattrocento"/>
                <a:ea typeface="Quattrocento"/>
                <a:cs typeface="Quattrocento"/>
                <a:sym typeface="Quattrocento"/>
              </a:rPr>
              <a:t>Disk &gt; 90% : Warning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8406" y="579846"/>
            <a:ext cx="17371187" cy="7930364"/>
          </a:xfrm>
          <a:custGeom>
            <a:avLst/>
            <a:gdLst/>
            <a:ahLst/>
            <a:cxnLst/>
            <a:rect r="r" b="b" t="t" l="l"/>
            <a:pathLst>
              <a:path h="7930364" w="17371187">
                <a:moveTo>
                  <a:pt x="0" y="0"/>
                </a:moveTo>
                <a:lnTo>
                  <a:pt x="17371188" y="0"/>
                </a:lnTo>
                <a:lnTo>
                  <a:pt x="17371188" y="7930364"/>
                </a:lnTo>
                <a:lnTo>
                  <a:pt x="0" y="7930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7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28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14284709" cy="642812"/>
            <a:chOff x="0" y="0"/>
            <a:chExt cx="19046279" cy="8570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46279" cy="857080"/>
            </a:xfrm>
            <a:custGeom>
              <a:avLst/>
              <a:gdLst/>
              <a:ahLst/>
              <a:cxnLst/>
              <a:rect r="r" b="b" t="t" l="l"/>
              <a:pathLst>
                <a:path h="857080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1" r="0" b="-38300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9046279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Pipeline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d'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Automatisation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83" y="5944320"/>
            <a:ext cx="8070861" cy="3409230"/>
            <a:chOff x="0" y="0"/>
            <a:chExt cx="10761148" cy="4545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1085" cy="4545653"/>
            </a:xfrm>
            <a:custGeom>
              <a:avLst/>
              <a:gdLst/>
              <a:ahLst/>
              <a:cxnLst/>
              <a:rect r="r" b="b" t="t" l="l"/>
              <a:pathLst>
                <a:path h="4545653" w="10761085">
                  <a:moveTo>
                    <a:pt x="0" y="0"/>
                  </a:moveTo>
                  <a:lnTo>
                    <a:pt x="10761085" y="0"/>
                  </a:lnTo>
                  <a:lnTo>
                    <a:pt x="10761085" y="4545653"/>
                  </a:lnTo>
                  <a:lnTo>
                    <a:pt x="0" y="4545653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079" y="5230088"/>
            <a:ext cx="8070866" cy="714232"/>
            <a:chOff x="0" y="0"/>
            <a:chExt cx="10761154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1091" cy="952373"/>
            </a:xfrm>
            <a:custGeom>
              <a:avLst/>
              <a:gdLst/>
              <a:ahLst/>
              <a:cxnLst/>
              <a:rect r="r" b="b" t="t" l="l"/>
              <a:pathLst>
                <a:path h="952373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952373"/>
                  </a:lnTo>
                  <a:lnTo>
                    <a:pt x="0" y="952373"/>
                  </a:lnTo>
                  <a:close/>
                </a:path>
              </a:pathLst>
            </a:custGeom>
            <a:solidFill>
              <a:srgbClr val="FC6D26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71353" y="5344369"/>
            <a:ext cx="457114" cy="457114"/>
          </a:xfrm>
          <a:custGeom>
            <a:avLst/>
            <a:gdLst/>
            <a:ahLst/>
            <a:cxnLst/>
            <a:rect r="r" b="b" t="t" l="l"/>
            <a:pathLst>
              <a:path h="457114" w="457114">
                <a:moveTo>
                  <a:pt x="0" y="0"/>
                </a:moveTo>
                <a:lnTo>
                  <a:pt x="457114" y="0"/>
                </a:lnTo>
                <a:lnTo>
                  <a:pt x="457114" y="457114"/>
                </a:lnTo>
                <a:lnTo>
                  <a:pt x="0" y="457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42739" y="5230088"/>
            <a:ext cx="6999503" cy="714232"/>
            <a:chOff x="0" y="0"/>
            <a:chExt cx="9332671" cy="9523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32677" cy="952314"/>
            </a:xfrm>
            <a:custGeom>
              <a:avLst/>
              <a:gdLst/>
              <a:ahLst/>
              <a:cxnLst/>
              <a:rect r="r" b="b" t="t" l="l"/>
              <a:pathLst>
                <a:path h="952314" w="9332677">
                  <a:moveTo>
                    <a:pt x="0" y="0"/>
                  </a:moveTo>
                  <a:lnTo>
                    <a:pt x="9332677" y="0"/>
                  </a:lnTo>
                  <a:lnTo>
                    <a:pt x="9332677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3" r="0" b="-14095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332671" cy="10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GitLab CI/CD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2781" y="5925213"/>
            <a:ext cx="7499471" cy="857079"/>
            <a:chOff x="0" y="0"/>
            <a:chExt cx="9999294" cy="11427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99297" cy="1142777"/>
            </a:xfrm>
            <a:custGeom>
              <a:avLst/>
              <a:gdLst/>
              <a:ahLst/>
              <a:cxnLst/>
              <a:rect r="r" b="b" t="t" l="l"/>
              <a:pathLst>
                <a:path h="1142777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999294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Integration continue pour les playbooks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2781" y="6782301"/>
            <a:ext cx="7499471" cy="857083"/>
            <a:chOff x="0" y="0"/>
            <a:chExt cx="9999294" cy="11427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99297" cy="1142782"/>
            </a:xfrm>
            <a:custGeom>
              <a:avLst/>
              <a:gdLst/>
              <a:ahLst/>
              <a:cxnLst/>
              <a:rect r="r" b="b" t="t" l="l"/>
              <a:pathLst>
                <a:path h="1142782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0" b="-12049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9999294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Pipelines de test automatisés et Deploiement continu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2781" y="7639379"/>
            <a:ext cx="7499471" cy="857083"/>
            <a:chOff x="0" y="0"/>
            <a:chExt cx="9999294" cy="11427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9297" cy="1142782"/>
            </a:xfrm>
            <a:custGeom>
              <a:avLst/>
              <a:gdLst/>
              <a:ahLst/>
              <a:cxnLst/>
              <a:rect r="r" b="b" t="t" l="l"/>
              <a:pathLst>
                <a:path h="1142782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0" b="-12049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9999294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Versionning et historique des changements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2781" y="8496467"/>
            <a:ext cx="7499471" cy="857083"/>
            <a:chOff x="0" y="0"/>
            <a:chExt cx="9999294" cy="11427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9297" cy="1142782"/>
            </a:xfrm>
            <a:custGeom>
              <a:avLst/>
              <a:gdLst/>
              <a:ahLst/>
              <a:cxnLst/>
              <a:rect r="r" b="b" t="t" l="l"/>
              <a:pathLst>
                <a:path h="1142782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0" b="-12049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9999294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Accessible depuis les 3 réseaux dev + réseau management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56484" y="5944320"/>
            <a:ext cx="8070866" cy="3409230"/>
            <a:chOff x="0" y="0"/>
            <a:chExt cx="10761155" cy="4545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1091" cy="4545653"/>
            </a:xfrm>
            <a:custGeom>
              <a:avLst/>
              <a:gdLst/>
              <a:ahLst/>
              <a:cxnLst/>
              <a:rect r="r" b="b" t="t" l="l"/>
              <a:pathLst>
                <a:path h="4545653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4545653"/>
                  </a:lnTo>
                  <a:lnTo>
                    <a:pt x="0" y="4545653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57083" y="3016333"/>
            <a:ext cx="16570266" cy="1714171"/>
            <a:chOff x="0" y="0"/>
            <a:chExt cx="22093688" cy="22855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093558" cy="2285574"/>
            </a:xfrm>
            <a:custGeom>
              <a:avLst/>
              <a:gdLst/>
              <a:ahLst/>
              <a:cxnLst/>
              <a:rect r="r" b="b" t="t" l="l"/>
              <a:pathLst>
                <a:path h="2285574" w="22093558">
                  <a:moveTo>
                    <a:pt x="0" y="0"/>
                  </a:moveTo>
                  <a:lnTo>
                    <a:pt x="22093558" y="0"/>
                  </a:lnTo>
                  <a:lnTo>
                    <a:pt x="22093558" y="2285574"/>
                  </a:lnTo>
                  <a:lnTo>
                    <a:pt x="0" y="2285574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356484" y="5230088"/>
            <a:ext cx="8070866" cy="714232"/>
            <a:chOff x="0" y="0"/>
            <a:chExt cx="10761154" cy="9523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1091" cy="952373"/>
            </a:xfrm>
            <a:custGeom>
              <a:avLst/>
              <a:gdLst/>
              <a:ahLst/>
              <a:cxnLst/>
              <a:rect r="r" b="b" t="t" l="l"/>
              <a:pathLst>
                <a:path h="952373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952373"/>
                  </a:lnTo>
                  <a:lnTo>
                    <a:pt x="0" y="952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7079" y="2320989"/>
            <a:ext cx="16570271" cy="714232"/>
            <a:chOff x="0" y="0"/>
            <a:chExt cx="22093695" cy="9523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093565" cy="952373"/>
            </a:xfrm>
            <a:custGeom>
              <a:avLst/>
              <a:gdLst/>
              <a:ahLst/>
              <a:cxnLst/>
              <a:rect r="r" b="b" t="t" l="l"/>
              <a:pathLst>
                <a:path h="952373" w="22093565">
                  <a:moveTo>
                    <a:pt x="0" y="0"/>
                  </a:moveTo>
                  <a:lnTo>
                    <a:pt x="22093565" y="0"/>
                  </a:lnTo>
                  <a:lnTo>
                    <a:pt x="22093565" y="952373"/>
                  </a:lnTo>
                  <a:lnTo>
                    <a:pt x="0" y="952373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570758" y="5344369"/>
            <a:ext cx="457114" cy="457114"/>
            <a:chOff x="0" y="0"/>
            <a:chExt cx="609486" cy="6094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16" y="76105"/>
              <a:ext cx="609616" cy="457264"/>
            </a:xfrm>
            <a:custGeom>
              <a:avLst/>
              <a:gdLst/>
              <a:ahLst/>
              <a:cxnLst/>
              <a:rect r="r" b="b" t="t" l="l"/>
              <a:pathLst>
                <a:path h="457264" w="609616">
                  <a:moveTo>
                    <a:pt x="11192" y="65119"/>
                  </a:moveTo>
                  <a:cubicBezTo>
                    <a:pt x="-3667" y="50133"/>
                    <a:pt x="-3667" y="26003"/>
                    <a:pt x="11192" y="11144"/>
                  </a:cubicBezTo>
                  <a:cubicBezTo>
                    <a:pt x="26051" y="-3715"/>
                    <a:pt x="50181" y="-3715"/>
                    <a:pt x="65167" y="11144"/>
                  </a:cubicBezTo>
                  <a:lnTo>
                    <a:pt x="255667" y="201644"/>
                  </a:lnTo>
                  <a:cubicBezTo>
                    <a:pt x="270526" y="216503"/>
                    <a:pt x="270526" y="240633"/>
                    <a:pt x="255667" y="255619"/>
                  </a:cubicBezTo>
                  <a:lnTo>
                    <a:pt x="65167" y="446119"/>
                  </a:lnTo>
                  <a:cubicBezTo>
                    <a:pt x="50308" y="460978"/>
                    <a:pt x="26178" y="460978"/>
                    <a:pt x="11192" y="446119"/>
                  </a:cubicBezTo>
                  <a:cubicBezTo>
                    <a:pt x="-3794" y="431260"/>
                    <a:pt x="-3667" y="407130"/>
                    <a:pt x="11192" y="392144"/>
                  </a:cubicBezTo>
                  <a:lnTo>
                    <a:pt x="174641" y="228695"/>
                  </a:lnTo>
                  <a:lnTo>
                    <a:pt x="11192" y="65119"/>
                  </a:lnTo>
                  <a:close/>
                  <a:moveTo>
                    <a:pt x="266716" y="380968"/>
                  </a:moveTo>
                  <a:lnTo>
                    <a:pt x="571516" y="380968"/>
                  </a:lnTo>
                  <a:cubicBezTo>
                    <a:pt x="592598" y="380968"/>
                    <a:pt x="609616" y="397986"/>
                    <a:pt x="609616" y="419068"/>
                  </a:cubicBezTo>
                  <a:cubicBezTo>
                    <a:pt x="609616" y="440150"/>
                    <a:pt x="592598" y="457168"/>
                    <a:pt x="571516" y="457168"/>
                  </a:cubicBezTo>
                  <a:lnTo>
                    <a:pt x="266716" y="457168"/>
                  </a:lnTo>
                  <a:cubicBezTo>
                    <a:pt x="245634" y="457168"/>
                    <a:pt x="228616" y="440150"/>
                    <a:pt x="228616" y="419068"/>
                  </a:cubicBezTo>
                  <a:cubicBezTo>
                    <a:pt x="228616" y="397986"/>
                    <a:pt x="245634" y="380968"/>
                    <a:pt x="266716" y="380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42144" y="5230088"/>
            <a:ext cx="6999503" cy="714232"/>
            <a:chOff x="0" y="0"/>
            <a:chExt cx="9332671" cy="9523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32677" cy="952314"/>
            </a:xfrm>
            <a:custGeom>
              <a:avLst/>
              <a:gdLst/>
              <a:ahLst/>
              <a:cxnLst/>
              <a:rect r="r" b="b" t="t" l="l"/>
              <a:pathLst>
                <a:path h="952314" w="9332677">
                  <a:moveTo>
                    <a:pt x="0" y="0"/>
                  </a:moveTo>
                  <a:lnTo>
                    <a:pt x="9332677" y="0"/>
                  </a:lnTo>
                  <a:lnTo>
                    <a:pt x="9332677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3" r="0" b="-1409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332671" cy="1009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Rundeck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42739" y="2320989"/>
            <a:ext cx="6999503" cy="714236"/>
            <a:chOff x="0" y="0"/>
            <a:chExt cx="9332671" cy="9523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32677" cy="952318"/>
            </a:xfrm>
            <a:custGeom>
              <a:avLst/>
              <a:gdLst/>
              <a:ahLst/>
              <a:cxnLst/>
              <a:rect r="r" b="b" t="t" l="l"/>
              <a:pathLst>
                <a:path h="952318" w="9332677">
                  <a:moveTo>
                    <a:pt x="0" y="0"/>
                  </a:moveTo>
                  <a:lnTo>
                    <a:pt x="9332677" y="0"/>
                  </a:lnTo>
                  <a:lnTo>
                    <a:pt x="9332677" y="952318"/>
                  </a:lnTo>
                  <a:lnTo>
                    <a:pt x="0" y="9523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2" r="0" b="-14095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332671" cy="1009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Ansible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42177" y="5925213"/>
            <a:ext cx="7499471" cy="857079"/>
            <a:chOff x="0" y="0"/>
            <a:chExt cx="9999294" cy="11427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999297" cy="1142777"/>
            </a:xfrm>
            <a:custGeom>
              <a:avLst/>
              <a:gdLst/>
              <a:ahLst/>
              <a:cxnLst/>
              <a:rect r="r" b="b" t="t" l="l"/>
              <a:pathLst>
                <a:path h="1142777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9999294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Orchestration des taches operationnelles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892160" y="3016333"/>
            <a:ext cx="7499471" cy="857083"/>
            <a:chOff x="0" y="0"/>
            <a:chExt cx="9999294" cy="114277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9297" cy="1142782"/>
            </a:xfrm>
            <a:custGeom>
              <a:avLst/>
              <a:gdLst/>
              <a:ahLst/>
              <a:cxnLst/>
              <a:rect r="r" b="b" t="t" l="l"/>
              <a:pathLst>
                <a:path h="1142782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0" b="-1204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9999294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Inventaire : nœuds Proxmox, VMs, conteneurs LXC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42177" y="6782301"/>
            <a:ext cx="7499471" cy="857079"/>
            <a:chOff x="0" y="0"/>
            <a:chExt cx="9999294" cy="11427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9297" cy="1142777"/>
            </a:xfrm>
            <a:custGeom>
              <a:avLst/>
              <a:gdLst/>
              <a:ahLst/>
              <a:cxnLst/>
              <a:rect r="r" b="b" t="t" l="l"/>
              <a:pathLst>
                <a:path h="1142777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9999294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Jobs planifies et execution a la demande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42177" y="7639379"/>
            <a:ext cx="7499471" cy="857079"/>
            <a:chOff x="0" y="0"/>
            <a:chExt cx="9999294" cy="11427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9297" cy="1142777"/>
            </a:xfrm>
            <a:custGeom>
              <a:avLst/>
              <a:gdLst/>
              <a:ahLst/>
              <a:cxnLst/>
              <a:rect r="r" b="b" t="t" l="l"/>
              <a:pathLst>
                <a:path h="1142777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9999294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Gestion des acces et audit des actions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2776" y="3016333"/>
            <a:ext cx="7499471" cy="857083"/>
            <a:chOff x="0" y="0"/>
            <a:chExt cx="9999294" cy="114277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9297" cy="1142782"/>
            </a:xfrm>
            <a:custGeom>
              <a:avLst/>
              <a:gdLst/>
              <a:ahLst/>
              <a:cxnLst/>
              <a:rect r="r" b="b" t="t" l="l"/>
              <a:pathLst>
                <a:path h="1142782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0" b="-12049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04775"/>
              <a:ext cx="9999294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Déploiement sans agent via SSH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42177" y="8496467"/>
            <a:ext cx="7499471" cy="857079"/>
            <a:chOff x="0" y="0"/>
            <a:chExt cx="9999294" cy="11427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9297" cy="1142777"/>
            </a:xfrm>
            <a:custGeom>
              <a:avLst/>
              <a:gdLst/>
              <a:ahLst/>
              <a:cxnLst/>
              <a:rect r="r" b="b" t="t" l="l"/>
              <a:pathLst>
                <a:path h="1142777" w="9999297">
                  <a:moveTo>
                    <a:pt x="0" y="0"/>
                  </a:moveTo>
                  <a:lnTo>
                    <a:pt x="9999297" y="0"/>
                  </a:lnTo>
                  <a:lnTo>
                    <a:pt x="9999297" y="1142777"/>
                  </a:lnTo>
                  <a:lnTo>
                    <a:pt x="0" y="1142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9999294" cy="12475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Integration avec Ansible pour l'execution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2776" y="3873421"/>
            <a:ext cx="8427982" cy="857083"/>
            <a:chOff x="0" y="0"/>
            <a:chExt cx="11237309" cy="114277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237313" cy="1142782"/>
            </a:xfrm>
            <a:custGeom>
              <a:avLst/>
              <a:gdLst/>
              <a:ahLst/>
              <a:cxnLst/>
              <a:rect r="r" b="b" t="t" l="l"/>
              <a:pathLst>
                <a:path h="1142782" w="11237313">
                  <a:moveTo>
                    <a:pt x="0" y="0"/>
                  </a:moveTo>
                  <a:lnTo>
                    <a:pt x="11237313" y="0"/>
                  </a:lnTo>
                  <a:lnTo>
                    <a:pt x="11237313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11017" b="-12049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04775"/>
              <a:ext cx="11237309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◆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playbooks :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provision, bootstrap, NTP sync, provisionnement en lot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29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44214" y="2314308"/>
            <a:ext cx="711392" cy="711392"/>
          </a:xfrm>
          <a:custGeom>
            <a:avLst/>
            <a:gdLst/>
            <a:ahLst/>
            <a:cxnLst/>
            <a:rect r="r" b="b" t="t" l="l"/>
            <a:pathLst>
              <a:path h="711392" w="711392">
                <a:moveTo>
                  <a:pt x="0" y="0"/>
                </a:moveTo>
                <a:lnTo>
                  <a:pt x="711392" y="0"/>
                </a:lnTo>
                <a:lnTo>
                  <a:pt x="711392" y="711392"/>
                </a:lnTo>
                <a:lnTo>
                  <a:pt x="0" y="711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271" y="3142640"/>
            <a:ext cx="5713886" cy="1142781"/>
            <a:chOff x="0" y="0"/>
            <a:chExt cx="7618514" cy="1523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512" cy="1523702"/>
            </a:xfrm>
            <a:custGeom>
              <a:avLst/>
              <a:gdLst/>
              <a:ahLst/>
              <a:cxnLst/>
              <a:rect r="r" b="b" t="t" l="l"/>
              <a:pathLst>
                <a:path h="1523702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7618514" cy="171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61"/>
                </a:lnSpc>
              </a:pPr>
              <a:r>
                <a:rPr lang="en-US" sz="8098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627" y="4285421"/>
            <a:ext cx="15713183" cy="1142762"/>
            <a:chOff x="0" y="0"/>
            <a:chExt cx="20950911" cy="15236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50909" cy="1523688"/>
            </a:xfrm>
            <a:custGeom>
              <a:avLst/>
              <a:gdLst/>
              <a:ahLst/>
              <a:cxnLst/>
              <a:rect r="r" b="b" t="t" l="l"/>
              <a:pathLst>
                <a:path h="1523688" w="20950909">
                  <a:moveTo>
                    <a:pt x="0" y="0"/>
                  </a:moveTo>
                  <a:lnTo>
                    <a:pt x="20950909" y="0"/>
                  </a:lnTo>
                  <a:lnTo>
                    <a:pt x="20950909" y="1523688"/>
                  </a:lnTo>
                  <a:lnTo>
                    <a:pt x="0" y="1523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421" r="0" b="-205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0950911" cy="16379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48"/>
                </a:lnSpc>
              </a:pPr>
              <a:r>
                <a:rPr lang="en-US" b="true" sz="4200" spc="233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Resultats et Validation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28333" y="5713886"/>
            <a:ext cx="11427771" cy="571386"/>
            <a:chOff x="0" y="0"/>
            <a:chExt cx="15237028" cy="761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Outils de supervision, alerting et automatisation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3745" y="6570964"/>
            <a:ext cx="2856938" cy="42853"/>
            <a:chOff x="0" y="0"/>
            <a:chExt cx="3809251" cy="57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09238" cy="57150"/>
            </a:xfrm>
            <a:custGeom>
              <a:avLst/>
              <a:gdLst/>
              <a:ahLst/>
              <a:cxnLst/>
              <a:rect r="r" b="b" t="t" l="l"/>
              <a:pathLst>
                <a:path h="5715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solidFill>
              <a:srgbClr val="6B4C9A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267"/>
                </a:lnSpc>
                <a:spcBef>
                  <a:spcPct val="0"/>
                </a:spcBef>
              </a:pPr>
              <a:r>
                <a:rPr lang="en-US" b="true" sz="155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30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079" y="571386"/>
            <a:ext cx="14284709" cy="642812"/>
            <a:chOff x="0" y="0"/>
            <a:chExt cx="19046279" cy="8570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46279" cy="857080"/>
            </a:xfrm>
            <a:custGeom>
              <a:avLst/>
              <a:gdLst/>
              <a:ahLst/>
              <a:cxnLst/>
              <a:rect r="r" b="b" t="t" l="l"/>
              <a:pathLst>
                <a:path h="857080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001" r="0" b="-38300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9046279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Résultat de Validation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9735" y="5859234"/>
            <a:ext cx="15928530" cy="1015444"/>
          </a:xfrm>
          <a:custGeom>
            <a:avLst/>
            <a:gdLst/>
            <a:ahLst/>
            <a:cxnLst/>
            <a:rect r="r" b="b" t="t" l="l"/>
            <a:pathLst>
              <a:path h="1015444" w="15928530">
                <a:moveTo>
                  <a:pt x="0" y="0"/>
                </a:moveTo>
                <a:lnTo>
                  <a:pt x="15928530" y="0"/>
                </a:lnTo>
                <a:lnTo>
                  <a:pt x="15928530" y="1015444"/>
                </a:lnTo>
                <a:lnTo>
                  <a:pt x="0" y="1015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9735" y="4843790"/>
            <a:ext cx="15928530" cy="1015444"/>
          </a:xfrm>
          <a:custGeom>
            <a:avLst/>
            <a:gdLst/>
            <a:ahLst/>
            <a:cxnLst/>
            <a:rect r="r" b="b" t="t" l="l"/>
            <a:pathLst>
              <a:path h="1015444" w="15928530">
                <a:moveTo>
                  <a:pt x="0" y="0"/>
                </a:moveTo>
                <a:lnTo>
                  <a:pt x="15928530" y="0"/>
                </a:lnTo>
                <a:lnTo>
                  <a:pt x="15928530" y="1015444"/>
                </a:lnTo>
                <a:lnTo>
                  <a:pt x="0" y="101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9735" y="3788525"/>
            <a:ext cx="15928530" cy="1055265"/>
          </a:xfrm>
          <a:custGeom>
            <a:avLst/>
            <a:gdLst/>
            <a:ahLst/>
            <a:cxnLst/>
            <a:rect r="r" b="b" t="t" l="l"/>
            <a:pathLst>
              <a:path h="1055265" w="15928530">
                <a:moveTo>
                  <a:pt x="0" y="0"/>
                </a:moveTo>
                <a:lnTo>
                  <a:pt x="15928530" y="0"/>
                </a:lnTo>
                <a:lnTo>
                  <a:pt x="15928530" y="1055265"/>
                </a:lnTo>
                <a:lnTo>
                  <a:pt x="0" y="10552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9735" y="2773081"/>
            <a:ext cx="15928530" cy="1015444"/>
          </a:xfrm>
          <a:custGeom>
            <a:avLst/>
            <a:gdLst/>
            <a:ahLst/>
            <a:cxnLst/>
            <a:rect r="r" b="b" t="t" l="l"/>
            <a:pathLst>
              <a:path h="1015444" w="15928530">
                <a:moveTo>
                  <a:pt x="0" y="0"/>
                </a:moveTo>
                <a:lnTo>
                  <a:pt x="15928530" y="0"/>
                </a:lnTo>
                <a:lnTo>
                  <a:pt x="15928530" y="1015444"/>
                </a:lnTo>
                <a:lnTo>
                  <a:pt x="0" y="10154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79735" y="1757638"/>
            <a:ext cx="15928530" cy="1015444"/>
          </a:xfrm>
          <a:custGeom>
            <a:avLst/>
            <a:gdLst/>
            <a:ahLst/>
            <a:cxnLst/>
            <a:rect r="r" b="b" t="t" l="l"/>
            <a:pathLst>
              <a:path h="1015444" w="15928530">
                <a:moveTo>
                  <a:pt x="0" y="0"/>
                </a:moveTo>
                <a:lnTo>
                  <a:pt x="15928530" y="0"/>
                </a:lnTo>
                <a:lnTo>
                  <a:pt x="15928530" y="1015443"/>
                </a:lnTo>
                <a:lnTo>
                  <a:pt x="0" y="10154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79735" y="7890122"/>
            <a:ext cx="15928530" cy="1015444"/>
          </a:xfrm>
          <a:custGeom>
            <a:avLst/>
            <a:gdLst/>
            <a:ahLst/>
            <a:cxnLst/>
            <a:rect r="r" b="b" t="t" l="l"/>
            <a:pathLst>
              <a:path h="1015444" w="15928530">
                <a:moveTo>
                  <a:pt x="0" y="0"/>
                </a:moveTo>
                <a:lnTo>
                  <a:pt x="15928530" y="0"/>
                </a:lnTo>
                <a:lnTo>
                  <a:pt x="15928530" y="1015443"/>
                </a:lnTo>
                <a:lnTo>
                  <a:pt x="0" y="10154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9735" y="6874678"/>
            <a:ext cx="15928530" cy="1015444"/>
          </a:xfrm>
          <a:custGeom>
            <a:avLst/>
            <a:gdLst/>
            <a:ahLst/>
            <a:cxnLst/>
            <a:rect r="r" b="b" t="t" l="l"/>
            <a:pathLst>
              <a:path h="1015444" w="15928530">
                <a:moveTo>
                  <a:pt x="0" y="0"/>
                </a:moveTo>
                <a:lnTo>
                  <a:pt x="15928530" y="0"/>
                </a:lnTo>
                <a:lnTo>
                  <a:pt x="15928530" y="1015444"/>
                </a:lnTo>
                <a:lnTo>
                  <a:pt x="0" y="1015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85271" y="3142640"/>
            <a:ext cx="5713886" cy="1142781"/>
            <a:chOff x="0" y="0"/>
            <a:chExt cx="7618514" cy="1523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512" cy="1523702"/>
            </a:xfrm>
            <a:custGeom>
              <a:avLst/>
              <a:gdLst/>
              <a:ahLst/>
              <a:cxnLst/>
              <a:rect r="r" b="b" t="t" l="l"/>
              <a:pathLst>
                <a:path h="1523702" w="7618512">
                  <a:moveTo>
                    <a:pt x="0" y="0"/>
                  </a:moveTo>
                  <a:lnTo>
                    <a:pt x="7618512" y="0"/>
                  </a:lnTo>
                  <a:lnTo>
                    <a:pt x="7618512" y="1523702"/>
                  </a:lnTo>
                  <a:lnTo>
                    <a:pt x="0" y="15237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0"/>
              <a:ext cx="7618514" cy="17142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61"/>
                </a:lnSpc>
              </a:pPr>
              <a:r>
                <a:rPr lang="en-US" sz="8098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05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99859" y="4571105"/>
            <a:ext cx="14284709" cy="857083"/>
            <a:chOff x="0" y="0"/>
            <a:chExt cx="19046279" cy="11427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46279" cy="1142782"/>
            </a:xfrm>
            <a:custGeom>
              <a:avLst/>
              <a:gdLst/>
              <a:ahLst/>
              <a:cxnLst/>
              <a:rect r="r" b="b" t="t" l="l"/>
              <a:pathLst>
                <a:path h="1142782" w="19046279">
                  <a:moveTo>
                    <a:pt x="0" y="0"/>
                  </a:moveTo>
                  <a:lnTo>
                    <a:pt x="19046279" y="0"/>
                  </a:lnTo>
                  <a:lnTo>
                    <a:pt x="19046279" y="1142782"/>
                  </a:lnTo>
                  <a:lnTo>
                    <a:pt x="0" y="1142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49" r="0" b="-274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19046279" cy="1247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0"/>
                </a:lnSpc>
              </a:pPr>
              <a:r>
                <a:rPr lang="en-US" b="true" sz="4049" spc="224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Conclusion et Perspectives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28333" y="5713886"/>
            <a:ext cx="11427771" cy="571386"/>
            <a:chOff x="0" y="0"/>
            <a:chExt cx="15237028" cy="7618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7023" cy="761851"/>
            </a:xfrm>
            <a:custGeom>
              <a:avLst/>
              <a:gdLst/>
              <a:ahLst/>
              <a:cxnLst/>
              <a:rect r="r" b="b" t="t" l="l"/>
              <a:pathLst>
                <a:path h="761851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5237028" cy="8285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3"/>
                </a:lnSpc>
              </a:pPr>
              <a:r>
                <a:rPr lang="en-US" sz="24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Validation, valeur ajoutee et evolutions futures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3745" y="6570964"/>
            <a:ext cx="2856938" cy="42853"/>
            <a:chOff x="0" y="0"/>
            <a:chExt cx="3809251" cy="57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09238" cy="57150"/>
            </a:xfrm>
            <a:custGeom>
              <a:avLst/>
              <a:gdLst/>
              <a:ahLst/>
              <a:cxnLst/>
              <a:rect r="r" b="b" t="t" l="l"/>
              <a:pathLst>
                <a:path h="57150" w="3809238">
                  <a:moveTo>
                    <a:pt x="0" y="0"/>
                  </a:moveTo>
                  <a:lnTo>
                    <a:pt x="3809238" y="0"/>
                  </a:lnTo>
                  <a:lnTo>
                    <a:pt x="3809238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32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079" y="571386"/>
            <a:ext cx="9999297" cy="642812"/>
            <a:chOff x="0" y="0"/>
            <a:chExt cx="13332396" cy="8570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32396" cy="857080"/>
            </a:xfrm>
            <a:custGeom>
              <a:avLst/>
              <a:gdLst/>
              <a:ahLst/>
              <a:cxnLst/>
              <a:rect r="r" b="b" t="t" l="l"/>
              <a:pathLst>
                <a:path h="857080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1" r="0" b="-2531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3332396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Valeurs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Ajoutées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2643678"/>
            <a:ext cx="5285346" cy="2285552"/>
            <a:chOff x="0" y="0"/>
            <a:chExt cx="7047128" cy="30474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1353" y="2786524"/>
            <a:ext cx="714232" cy="571386"/>
            <a:chOff x="0" y="0"/>
            <a:chExt cx="952310" cy="7618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57013" y="2786524"/>
            <a:ext cx="4071147" cy="1999859"/>
            <a:chOff x="0" y="0"/>
            <a:chExt cx="5428196" cy="26664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oût nul : aucune licence propriétaire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99546" y="2643678"/>
            <a:ext cx="5285346" cy="2285552"/>
            <a:chOff x="0" y="0"/>
            <a:chExt cx="7047128" cy="30474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13811" y="2786524"/>
            <a:ext cx="714232" cy="571386"/>
            <a:chOff x="0" y="0"/>
            <a:chExt cx="952310" cy="7618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99471" y="2786524"/>
            <a:ext cx="4071147" cy="1999859"/>
            <a:chOff x="0" y="0"/>
            <a:chExt cx="5428196" cy="26664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Souveraineté : 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code source accessible, modifiable, auditabl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142003" y="2643678"/>
            <a:ext cx="5285346" cy="2285552"/>
            <a:chOff x="0" y="0"/>
            <a:chExt cx="7047128" cy="30474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56278" y="2786524"/>
            <a:ext cx="714232" cy="571386"/>
            <a:chOff x="0" y="0"/>
            <a:chExt cx="952310" cy="7618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141938" y="2786524"/>
            <a:ext cx="4071147" cy="1999859"/>
            <a:chOff x="0" y="0"/>
            <a:chExt cx="5428196" cy="266647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CLBS : combl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un manque réel de Proxmox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57079" y="5357770"/>
            <a:ext cx="5285346" cy="2285552"/>
            <a:chOff x="0" y="0"/>
            <a:chExt cx="7047128" cy="30474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1353" y="5500616"/>
            <a:ext cx="714232" cy="571386"/>
            <a:chOff x="0" y="0"/>
            <a:chExt cx="952310" cy="7618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2314" cy="761851"/>
            </a:xfrm>
            <a:custGeom>
              <a:avLst/>
              <a:gdLst/>
              <a:ahLst/>
              <a:cxnLst/>
              <a:rect r="r" b="b" t="t" l="l"/>
              <a:pathLst>
                <a:path h="761851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952310" cy="8475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857013" y="5500616"/>
            <a:ext cx="4071147" cy="1999859"/>
            <a:chOff x="0" y="0"/>
            <a:chExt cx="5428196" cy="26664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solution plus légère et</a:t>
              </a:r>
            </a:p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opérationnelle 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en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quelques heures sur 3 no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euds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499546" y="5357770"/>
            <a:ext cx="5285346" cy="2285552"/>
            <a:chOff x="0" y="0"/>
            <a:chExt cx="7047128" cy="30474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713811" y="5500616"/>
            <a:ext cx="714232" cy="590452"/>
            <a:chOff x="0" y="0"/>
            <a:chExt cx="952310" cy="78727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2314" cy="787273"/>
            </a:xfrm>
            <a:custGeom>
              <a:avLst/>
              <a:gdLst/>
              <a:ahLst/>
              <a:cxnLst/>
              <a:rect r="r" b="b" t="t" l="l"/>
              <a:pathLst>
                <a:path h="787273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87273"/>
                  </a:lnTo>
                  <a:lnTo>
                    <a:pt x="0" y="787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32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952310" cy="872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11"/>
                </a:lnSpc>
              </a:pPr>
              <a:r>
                <a:rPr lang="en-US" sz="35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499471" y="5500616"/>
            <a:ext cx="4071147" cy="1999859"/>
            <a:chOff x="0" y="0"/>
            <a:chExt cx="5428196" cy="26664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Déploy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able sur du matériel existant -&gt; réutilisation des R720 sans investissement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142003" y="5357770"/>
            <a:ext cx="5285346" cy="2285552"/>
            <a:chOff x="0" y="0"/>
            <a:chExt cx="7047128" cy="30474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47103" cy="3047365"/>
            </a:xfrm>
            <a:custGeom>
              <a:avLst/>
              <a:gdLst/>
              <a:ahLst/>
              <a:cxnLst/>
              <a:rect r="r" b="b" t="t" l="l"/>
              <a:pathLst>
                <a:path h="3047365" w="7047103">
                  <a:moveTo>
                    <a:pt x="0" y="0"/>
                  </a:moveTo>
                  <a:lnTo>
                    <a:pt x="7047103" y="0"/>
                  </a:lnTo>
                  <a:lnTo>
                    <a:pt x="7047103" y="3047365"/>
                  </a:lnTo>
                  <a:lnTo>
                    <a:pt x="0" y="3047365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356278" y="5500616"/>
            <a:ext cx="714232" cy="590452"/>
            <a:chOff x="0" y="0"/>
            <a:chExt cx="952310" cy="7872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2314" cy="787273"/>
            </a:xfrm>
            <a:custGeom>
              <a:avLst/>
              <a:gdLst/>
              <a:ahLst/>
              <a:cxnLst/>
              <a:rect r="r" b="b" t="t" l="l"/>
              <a:pathLst>
                <a:path h="787273" w="952314">
                  <a:moveTo>
                    <a:pt x="0" y="0"/>
                  </a:moveTo>
                  <a:lnTo>
                    <a:pt x="952314" y="0"/>
                  </a:lnTo>
                  <a:lnTo>
                    <a:pt x="952314" y="787273"/>
                  </a:lnTo>
                  <a:lnTo>
                    <a:pt x="0" y="787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322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85725"/>
              <a:ext cx="952310" cy="872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111"/>
                </a:lnSpc>
              </a:pPr>
              <a:r>
                <a:rPr lang="en-US" sz="3549" b="true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141938" y="5500616"/>
            <a:ext cx="4071147" cy="1999859"/>
            <a:chOff x="0" y="0"/>
            <a:chExt cx="5428196" cy="266647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28190" cy="2666479"/>
            </a:xfrm>
            <a:custGeom>
              <a:avLst/>
              <a:gdLst/>
              <a:ahLst/>
              <a:cxnLst/>
              <a:rect r="r" b="b" t="t" l="l"/>
              <a:pathLst>
                <a:path h="2666479" w="5428190">
                  <a:moveTo>
                    <a:pt x="0" y="0"/>
                  </a:moveTo>
                  <a:lnTo>
                    <a:pt x="5428190" y="0"/>
                  </a:lnTo>
                  <a:lnTo>
                    <a:pt x="5428190" y="2666479"/>
                  </a:lnTo>
                  <a:lnTo>
                    <a:pt x="0" y="26664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026" t="0" r="-1302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14300"/>
              <a:ext cx="5428196" cy="2780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3"/>
                </a:lnSpc>
              </a:pP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Fournir un</a:t>
              </a:r>
              <a:r>
                <a:rPr lang="en-US" sz="24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e base d’infrastructure évolutive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079" y="571386"/>
            <a:ext cx="12856235" cy="642812"/>
            <a:chOff x="0" y="0"/>
            <a:chExt cx="17141647" cy="8570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41653" cy="857080"/>
            </a:xfrm>
            <a:custGeom>
              <a:avLst/>
              <a:gdLst/>
              <a:ahLst/>
              <a:cxnLst/>
              <a:rect r="r" b="b" t="t" l="l"/>
              <a:pathLst>
                <a:path h="857080" w="17141653">
                  <a:moveTo>
                    <a:pt x="0" y="0"/>
                  </a:moveTo>
                  <a:lnTo>
                    <a:pt x="17141653" y="0"/>
                  </a:lnTo>
                  <a:lnTo>
                    <a:pt x="17141653" y="857080"/>
                  </a:lnTo>
                  <a:lnTo>
                    <a:pt x="0" y="857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1" r="0" b="-3397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7141647" cy="942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Limites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du Proj</a:t>
              </a: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823125"/>
            <a:ext cx="16230600" cy="1967191"/>
            <a:chOff x="0" y="0"/>
            <a:chExt cx="2593972" cy="314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93972" cy="314386"/>
            </a:xfrm>
            <a:custGeom>
              <a:avLst/>
              <a:gdLst/>
              <a:ahLst/>
              <a:cxnLst/>
              <a:rect r="r" b="b" t="t" l="l"/>
              <a:pathLst>
                <a:path h="314386" w="2593972">
                  <a:moveTo>
                    <a:pt x="2593972" y="25281"/>
                  </a:moveTo>
                  <a:lnTo>
                    <a:pt x="2593972" y="289106"/>
                  </a:lnTo>
                  <a:cubicBezTo>
                    <a:pt x="2593972" y="303068"/>
                    <a:pt x="2582654" y="314386"/>
                    <a:pt x="2568691" y="314386"/>
                  </a:cubicBezTo>
                  <a:lnTo>
                    <a:pt x="25281" y="314386"/>
                  </a:lnTo>
                  <a:cubicBezTo>
                    <a:pt x="11319" y="314386"/>
                    <a:pt x="0" y="303068"/>
                    <a:pt x="0" y="289106"/>
                  </a:cubicBezTo>
                  <a:lnTo>
                    <a:pt x="0" y="25281"/>
                  </a:lnTo>
                  <a:cubicBezTo>
                    <a:pt x="0" y="11319"/>
                    <a:pt x="11319" y="0"/>
                    <a:pt x="25281" y="0"/>
                  </a:cubicBezTo>
                  <a:lnTo>
                    <a:pt x="2568691" y="0"/>
                  </a:lnTo>
                  <a:cubicBezTo>
                    <a:pt x="2575396" y="0"/>
                    <a:pt x="2581827" y="2664"/>
                    <a:pt x="2586568" y="7405"/>
                  </a:cubicBezTo>
                  <a:cubicBezTo>
                    <a:pt x="2591309" y="12146"/>
                    <a:pt x="2593972" y="18576"/>
                    <a:pt x="2593972" y="25281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09550"/>
              <a:ext cx="2593972" cy="523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5568"/>
                </a:lnSpc>
              </a:pPr>
              <a:r>
                <a:rPr lang="en-US" sz="29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Pipe</a:t>
              </a:r>
              <a:r>
                <a:rPr lang="en-US" b="true" sz="29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line PXE/TFTP : conçu mais non validé en conditions réelles (matériel dédié indisponible)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159904"/>
            <a:ext cx="16230600" cy="1967192"/>
            <a:chOff x="0" y="0"/>
            <a:chExt cx="2593972" cy="3143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93972" cy="314387"/>
            </a:xfrm>
            <a:custGeom>
              <a:avLst/>
              <a:gdLst/>
              <a:ahLst/>
              <a:cxnLst/>
              <a:rect r="r" b="b" t="t" l="l"/>
              <a:pathLst>
                <a:path h="314387" w="2593972">
                  <a:moveTo>
                    <a:pt x="2593972" y="25281"/>
                  </a:moveTo>
                  <a:lnTo>
                    <a:pt x="2593972" y="289106"/>
                  </a:lnTo>
                  <a:cubicBezTo>
                    <a:pt x="2593972" y="303068"/>
                    <a:pt x="2582654" y="314387"/>
                    <a:pt x="2568691" y="314387"/>
                  </a:cubicBezTo>
                  <a:lnTo>
                    <a:pt x="25281" y="314387"/>
                  </a:lnTo>
                  <a:cubicBezTo>
                    <a:pt x="11319" y="314387"/>
                    <a:pt x="0" y="303068"/>
                    <a:pt x="0" y="289106"/>
                  </a:cubicBezTo>
                  <a:lnTo>
                    <a:pt x="0" y="25281"/>
                  </a:lnTo>
                  <a:cubicBezTo>
                    <a:pt x="0" y="11319"/>
                    <a:pt x="11319" y="0"/>
                    <a:pt x="25281" y="0"/>
                  </a:cubicBezTo>
                  <a:lnTo>
                    <a:pt x="2568691" y="0"/>
                  </a:lnTo>
                  <a:cubicBezTo>
                    <a:pt x="2575396" y="0"/>
                    <a:pt x="2581827" y="2664"/>
                    <a:pt x="2586568" y="7405"/>
                  </a:cubicBezTo>
                  <a:cubicBezTo>
                    <a:pt x="2591309" y="12146"/>
                    <a:pt x="2593972" y="18576"/>
                    <a:pt x="2593972" y="25281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09550"/>
              <a:ext cx="2593972" cy="523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5568"/>
                </a:lnSpc>
              </a:pPr>
              <a:r>
                <a:rPr lang="en-US" sz="29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</a:t>
              </a:r>
              <a:r>
                <a:rPr lang="en-US" b="true" sz="29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Proxmox Backup S</a:t>
              </a:r>
              <a:r>
                <a:rPr lang="en-US" b="true" sz="29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erver : même limite avec PXE/TFTP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498571"/>
            <a:ext cx="16230600" cy="1967192"/>
            <a:chOff x="0" y="0"/>
            <a:chExt cx="2593972" cy="31438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93972" cy="314387"/>
            </a:xfrm>
            <a:custGeom>
              <a:avLst/>
              <a:gdLst/>
              <a:ahLst/>
              <a:cxnLst/>
              <a:rect r="r" b="b" t="t" l="l"/>
              <a:pathLst>
                <a:path h="314387" w="2593972">
                  <a:moveTo>
                    <a:pt x="2593972" y="25281"/>
                  </a:moveTo>
                  <a:lnTo>
                    <a:pt x="2593972" y="289106"/>
                  </a:lnTo>
                  <a:cubicBezTo>
                    <a:pt x="2593972" y="303068"/>
                    <a:pt x="2582654" y="314387"/>
                    <a:pt x="2568691" y="314387"/>
                  </a:cubicBezTo>
                  <a:lnTo>
                    <a:pt x="25281" y="314387"/>
                  </a:lnTo>
                  <a:cubicBezTo>
                    <a:pt x="11319" y="314387"/>
                    <a:pt x="0" y="303068"/>
                    <a:pt x="0" y="289106"/>
                  </a:cubicBezTo>
                  <a:lnTo>
                    <a:pt x="0" y="25281"/>
                  </a:lnTo>
                  <a:cubicBezTo>
                    <a:pt x="0" y="11319"/>
                    <a:pt x="11319" y="0"/>
                    <a:pt x="25281" y="0"/>
                  </a:cubicBezTo>
                  <a:lnTo>
                    <a:pt x="2568691" y="0"/>
                  </a:lnTo>
                  <a:cubicBezTo>
                    <a:pt x="2575396" y="0"/>
                    <a:pt x="2581827" y="2664"/>
                    <a:pt x="2586568" y="7405"/>
                  </a:cubicBezTo>
                  <a:cubicBezTo>
                    <a:pt x="2591309" y="12146"/>
                    <a:pt x="2593972" y="18576"/>
                    <a:pt x="2593972" y="25281"/>
                  </a:cubicBezTo>
                  <a:close/>
                </a:path>
              </a:pathLst>
            </a:custGeom>
            <a:solidFill>
              <a:srgbClr val="3B6EC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00025"/>
              <a:ext cx="2593972" cy="5144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5376"/>
                </a:lnSpc>
              </a:pPr>
              <a:r>
                <a:rPr lang="en-US" sz="280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 Se</a:t>
              </a:r>
              <a:r>
                <a:rPr lang="en-US" b="true" sz="28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gmentation VxLAN man</a:t>
              </a:r>
              <a:r>
                <a:rPr lang="en-US" b="true" sz="2800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uelle : fastidieuse à l'échelle (switch physique Sonatrach inaccessible)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079" y="571386"/>
            <a:ext cx="12856235" cy="642814"/>
            <a:chOff x="0" y="0"/>
            <a:chExt cx="17141647" cy="8570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41698" cy="857123"/>
            </a:xfrm>
            <a:custGeom>
              <a:avLst/>
              <a:gdLst/>
              <a:ahLst/>
              <a:cxnLst/>
              <a:rect r="r" b="b" t="t" l="l"/>
              <a:pathLst>
                <a:path h="857123" w="17141698">
                  <a:moveTo>
                    <a:pt x="0" y="0"/>
                  </a:moveTo>
                  <a:lnTo>
                    <a:pt x="17141698" y="0"/>
                  </a:lnTo>
                  <a:lnTo>
                    <a:pt x="17141698" y="857123"/>
                  </a:lnTo>
                  <a:lnTo>
                    <a:pt x="0" y="8571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413" r="0" b="-33941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7079" y="507092"/>
            <a:ext cx="12856235" cy="707108"/>
            <a:chOff x="0" y="0"/>
            <a:chExt cx="17141647" cy="9428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141647" cy="942811"/>
            </a:xfrm>
            <a:custGeom>
              <a:avLst/>
              <a:gdLst/>
              <a:ahLst/>
              <a:cxnLst/>
              <a:rect r="r" b="b" t="t" l="l"/>
              <a:pathLst>
                <a:path h="942811" w="17141647">
                  <a:moveTo>
                    <a:pt x="0" y="0"/>
                  </a:moveTo>
                  <a:lnTo>
                    <a:pt x="17141647" y="0"/>
                  </a:lnTo>
                  <a:lnTo>
                    <a:pt x="17141647" y="942811"/>
                  </a:lnTo>
                  <a:lnTo>
                    <a:pt x="0" y="9428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65" r="0" b="-30426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7141647" cy="1028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50" spc="111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Perspectives</a:t>
              </a:r>
              <a:r>
                <a:rPr lang="en-US" b="true" sz="3350" spc="111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 d'</a:t>
              </a:r>
              <a:r>
                <a:rPr lang="en-US" b="true" sz="3350" spc="111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Évolution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57079" y="1624293"/>
            <a:ext cx="16570262" cy="1036815"/>
            <a:chOff x="0" y="0"/>
            <a:chExt cx="22093682" cy="13824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93682" cy="1382420"/>
            </a:xfrm>
            <a:custGeom>
              <a:avLst/>
              <a:gdLst/>
              <a:ahLst/>
              <a:cxnLst/>
              <a:rect r="r" b="b" t="t" l="l"/>
              <a:pathLst>
                <a:path h="1382420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382420"/>
                  </a:lnTo>
                  <a:lnTo>
                    <a:pt x="0" y="1382420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42781" y="1785585"/>
            <a:ext cx="714280" cy="714280"/>
            <a:chOff x="0" y="0"/>
            <a:chExt cx="952373" cy="9523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2781" y="1785585"/>
            <a:ext cx="714232" cy="714232"/>
            <a:chOff x="0" y="0"/>
            <a:chExt cx="952310" cy="9523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42781" y="1735579"/>
            <a:ext cx="714232" cy="764238"/>
            <a:chOff x="0" y="0"/>
            <a:chExt cx="952310" cy="10189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42706" y="1571320"/>
            <a:ext cx="14998951" cy="1142781"/>
            <a:chOff x="0" y="0"/>
            <a:chExt cx="19998601" cy="15237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42706" y="1624293"/>
            <a:ext cx="14998941" cy="1036815"/>
            <a:chOff x="0" y="0"/>
            <a:chExt cx="19998588" cy="13824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8589" cy="1382420"/>
            </a:xfrm>
            <a:custGeom>
              <a:avLst/>
              <a:gdLst/>
              <a:ahLst/>
              <a:cxnLst/>
              <a:rect r="r" b="b" t="t" l="l"/>
              <a:pathLst>
                <a:path h="1382420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382420"/>
                  </a:lnTo>
                  <a:lnTo>
                    <a:pt x="0" y="1382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944" r="0" b="-2418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33350"/>
              <a:ext cx="19998588" cy="1515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Migr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er VxLAN OVS -&gt; VLAN utilisant OVS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74369" y="2689098"/>
            <a:ext cx="49997" cy="335661"/>
            <a:chOff x="0" y="0"/>
            <a:chExt cx="66662" cy="4475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857079" y="2752134"/>
            <a:ext cx="16570262" cy="1142810"/>
            <a:chOff x="0" y="0"/>
            <a:chExt cx="22093682" cy="15237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42781" y="2966409"/>
            <a:ext cx="714280" cy="714280"/>
            <a:chOff x="0" y="0"/>
            <a:chExt cx="952373" cy="9523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2781" y="2966409"/>
            <a:ext cx="714232" cy="714232"/>
            <a:chOff x="0" y="0"/>
            <a:chExt cx="952310" cy="9523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42781" y="2916403"/>
            <a:ext cx="714232" cy="764238"/>
            <a:chOff x="0" y="0"/>
            <a:chExt cx="952310" cy="1018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42706" y="2752134"/>
            <a:ext cx="14998951" cy="1142781"/>
            <a:chOff x="0" y="0"/>
            <a:chExt cx="19998601" cy="15237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142706" y="2752134"/>
            <a:ext cx="14998941" cy="1117778"/>
            <a:chOff x="0" y="0"/>
            <a:chExt cx="19998588" cy="14903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998589" cy="1490370"/>
            </a:xfrm>
            <a:custGeom>
              <a:avLst/>
              <a:gdLst/>
              <a:ahLst/>
              <a:cxnLst/>
              <a:rect r="r" b="b" t="t" l="l"/>
              <a:pathLst>
                <a:path h="1490370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490370"/>
                  </a:lnTo>
                  <a:lnTo>
                    <a:pt x="0" y="1490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68" r="0" b="-2170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33350"/>
              <a:ext cx="19998588" cy="1623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alider le pipeline PXE/Ansible : onboarding noeud &lt; 25 min sans intervention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74369" y="4117562"/>
            <a:ext cx="49997" cy="335661"/>
            <a:chOff x="0" y="0"/>
            <a:chExt cx="66662" cy="4475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57079" y="3990194"/>
            <a:ext cx="16570262" cy="1142810"/>
            <a:chOff x="0" y="0"/>
            <a:chExt cx="22093682" cy="152374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57079" y="6466313"/>
            <a:ext cx="16570262" cy="1142810"/>
            <a:chOff x="0" y="0"/>
            <a:chExt cx="22093682" cy="152374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E2E5ED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42781" y="4204468"/>
            <a:ext cx="714280" cy="714280"/>
            <a:chOff x="0" y="0"/>
            <a:chExt cx="952373" cy="95237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42781" y="6680587"/>
            <a:ext cx="714280" cy="714280"/>
            <a:chOff x="0" y="0"/>
            <a:chExt cx="952373" cy="95237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42781" y="4204468"/>
            <a:ext cx="714232" cy="714232"/>
            <a:chOff x="0" y="0"/>
            <a:chExt cx="952310" cy="95231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42781" y="6680587"/>
            <a:ext cx="714232" cy="714232"/>
            <a:chOff x="0" y="0"/>
            <a:chExt cx="952310" cy="95231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42781" y="4154462"/>
            <a:ext cx="714232" cy="764238"/>
            <a:chOff x="0" y="0"/>
            <a:chExt cx="952310" cy="1018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2781" y="6630581"/>
            <a:ext cx="714232" cy="764238"/>
            <a:chOff x="0" y="0"/>
            <a:chExt cx="952310" cy="10189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142706" y="3990194"/>
            <a:ext cx="14998951" cy="1142781"/>
            <a:chOff x="0" y="0"/>
            <a:chExt cx="19998601" cy="15237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142706" y="6466313"/>
            <a:ext cx="14998951" cy="1142781"/>
            <a:chOff x="0" y="0"/>
            <a:chExt cx="19998601" cy="152370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2142706" y="3990194"/>
            <a:ext cx="14998941" cy="1117778"/>
            <a:chOff x="0" y="0"/>
            <a:chExt cx="19998588" cy="14903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998589" cy="1490370"/>
            </a:xfrm>
            <a:custGeom>
              <a:avLst/>
              <a:gdLst/>
              <a:ahLst/>
              <a:cxnLst/>
              <a:rect r="r" b="b" t="t" l="l"/>
              <a:pathLst>
                <a:path h="1490370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490370"/>
                  </a:lnTo>
                  <a:lnTo>
                    <a:pt x="0" y="1490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68" r="0" b="-21705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33350"/>
              <a:ext cx="19998588" cy="1623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roxmox Backup Server et DR (Disaster Recovery)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142706" y="6466313"/>
            <a:ext cx="14998941" cy="1142781"/>
            <a:chOff x="0" y="0"/>
            <a:chExt cx="19998588" cy="15237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998589" cy="1523708"/>
            </a:xfrm>
            <a:custGeom>
              <a:avLst/>
              <a:gdLst/>
              <a:ahLst/>
              <a:cxnLst/>
              <a:rect r="r" b="b" t="t" l="l"/>
              <a:pathLst>
                <a:path h="1523708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523708"/>
                  </a:lnTo>
                  <a:lnTo>
                    <a:pt x="0" y="15237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364" r="0" b="-21011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33350"/>
              <a:ext cx="19998588" cy="1657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Remplace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 Grafana/Loki/Alertmanager par Wazuh (SIEM complet)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974369" y="5546036"/>
            <a:ext cx="49997" cy="335661"/>
            <a:chOff x="0" y="0"/>
            <a:chExt cx="66662" cy="4475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857079" y="5228253"/>
            <a:ext cx="16570262" cy="1142810"/>
            <a:chOff x="0" y="0"/>
            <a:chExt cx="22093682" cy="152374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57079" y="7704372"/>
            <a:ext cx="16570262" cy="1142810"/>
            <a:chOff x="0" y="0"/>
            <a:chExt cx="22093682" cy="152374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093682" cy="1523746"/>
            </a:xfrm>
            <a:custGeom>
              <a:avLst/>
              <a:gdLst/>
              <a:ahLst/>
              <a:cxnLst/>
              <a:rect r="r" b="b" t="t" l="l"/>
              <a:pathLst>
                <a:path h="1523746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1523746"/>
                  </a:lnTo>
                  <a:lnTo>
                    <a:pt x="0" y="152374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42781" y="5442528"/>
            <a:ext cx="714280" cy="714280"/>
            <a:chOff x="0" y="0"/>
            <a:chExt cx="952373" cy="95237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42781" y="7918647"/>
            <a:ext cx="714280" cy="714280"/>
            <a:chOff x="0" y="0"/>
            <a:chExt cx="952373" cy="95237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476123"/>
                  </a:moveTo>
                  <a:cubicBezTo>
                    <a:pt x="0" y="213233"/>
                    <a:pt x="213233" y="0"/>
                    <a:pt x="476123" y="0"/>
                  </a:cubicBezTo>
                  <a:cubicBezTo>
                    <a:pt x="739013" y="0"/>
                    <a:pt x="952373" y="213233"/>
                    <a:pt x="952373" y="476123"/>
                  </a:cubicBezTo>
                  <a:cubicBezTo>
                    <a:pt x="952373" y="739013"/>
                    <a:pt x="739140" y="952373"/>
                    <a:pt x="476123" y="952373"/>
                  </a:cubicBezTo>
                  <a:cubicBezTo>
                    <a:pt x="213106" y="952373"/>
                    <a:pt x="0" y="739140"/>
                    <a:pt x="0" y="476123"/>
                  </a:cubicBez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42781" y="5442528"/>
            <a:ext cx="714232" cy="714232"/>
            <a:chOff x="0" y="0"/>
            <a:chExt cx="952310" cy="95231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42781" y="7918647"/>
            <a:ext cx="714232" cy="714232"/>
            <a:chOff x="0" y="0"/>
            <a:chExt cx="952310" cy="95231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52373" cy="952373"/>
            </a:xfrm>
            <a:custGeom>
              <a:avLst/>
              <a:gdLst/>
              <a:ahLst/>
              <a:cxnLst/>
              <a:rect r="r" b="b" t="t" l="l"/>
              <a:pathLst>
                <a:path h="952373" w="952373">
                  <a:moveTo>
                    <a:pt x="0" y="0"/>
                  </a:moveTo>
                  <a:lnTo>
                    <a:pt x="952373" y="0"/>
                  </a:lnTo>
                  <a:lnTo>
                    <a:pt x="952373" y="952373"/>
                  </a:lnTo>
                  <a:lnTo>
                    <a:pt x="0" y="9523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87" t="0" r="-78382" b="6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42781" y="5392522"/>
            <a:ext cx="714232" cy="764238"/>
            <a:chOff x="0" y="0"/>
            <a:chExt cx="952310" cy="10189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42781" y="7868641"/>
            <a:ext cx="714232" cy="764238"/>
            <a:chOff x="0" y="0"/>
            <a:chExt cx="952310" cy="10189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52309" cy="1018984"/>
            </a:xfrm>
            <a:custGeom>
              <a:avLst/>
              <a:gdLst/>
              <a:ahLst/>
              <a:cxnLst/>
              <a:rect r="r" b="b" t="t" l="l"/>
              <a:pathLst>
                <a:path h="1018984" w="952309">
                  <a:moveTo>
                    <a:pt x="0" y="0"/>
                  </a:moveTo>
                  <a:lnTo>
                    <a:pt x="952309" y="0"/>
                  </a:lnTo>
                  <a:lnTo>
                    <a:pt x="952309" y="1018984"/>
                  </a:lnTo>
                  <a:lnTo>
                    <a:pt x="0" y="1018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7286" t="0" r="-87286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952310" cy="10856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2"/>
                </a:lnSpc>
              </a:pPr>
              <a:r>
                <a:rPr lang="en-US" sz="2450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6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142706" y="5228253"/>
            <a:ext cx="14998951" cy="1142781"/>
            <a:chOff x="0" y="0"/>
            <a:chExt cx="19998601" cy="15237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2142706" y="7704372"/>
            <a:ext cx="14998951" cy="1142781"/>
            <a:chOff x="0" y="0"/>
            <a:chExt cx="19998601" cy="152370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9998562" cy="1523746"/>
            </a:xfrm>
            <a:custGeom>
              <a:avLst/>
              <a:gdLst/>
              <a:ahLst/>
              <a:cxnLst/>
              <a:rect r="r" b="b" t="t" l="l"/>
              <a:pathLst>
                <a:path h="1523746" w="19998562">
                  <a:moveTo>
                    <a:pt x="0" y="0"/>
                  </a:moveTo>
                  <a:lnTo>
                    <a:pt x="19998562" y="0"/>
                  </a:lnTo>
                  <a:lnTo>
                    <a:pt x="19998562" y="1523746"/>
                  </a:lnTo>
                  <a:lnTo>
                    <a:pt x="0" y="15237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5557" r="0" b="-205554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2142706" y="5228253"/>
            <a:ext cx="14998941" cy="1117778"/>
            <a:chOff x="0" y="0"/>
            <a:chExt cx="19998588" cy="14903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9998589" cy="1490370"/>
            </a:xfrm>
            <a:custGeom>
              <a:avLst/>
              <a:gdLst/>
              <a:ahLst/>
              <a:cxnLst/>
              <a:rect r="r" b="b" t="t" l="l"/>
              <a:pathLst>
                <a:path h="1490370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490370"/>
                  </a:lnTo>
                  <a:lnTo>
                    <a:pt x="0" y="1490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68" r="0" b="-21705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33350"/>
              <a:ext cx="19998588" cy="1623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entraliser l'authentification via OpenLDAP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2142706" y="7704372"/>
            <a:ext cx="14998941" cy="1042778"/>
            <a:chOff x="0" y="0"/>
            <a:chExt cx="19998588" cy="139037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9998589" cy="1390371"/>
            </a:xfrm>
            <a:custGeom>
              <a:avLst/>
              <a:gdLst/>
              <a:ahLst/>
              <a:cxnLst/>
              <a:rect r="r" b="b" t="t" l="l"/>
              <a:pathLst>
                <a:path h="1390371" w="19998589">
                  <a:moveTo>
                    <a:pt x="0" y="0"/>
                  </a:moveTo>
                  <a:lnTo>
                    <a:pt x="19998589" y="0"/>
                  </a:lnTo>
                  <a:lnTo>
                    <a:pt x="19998589" y="1390371"/>
                  </a:lnTo>
                  <a:lnTo>
                    <a:pt x="0" y="1390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75" r="0" b="-23985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33350"/>
              <a:ext cx="19998588" cy="1523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48"/>
                </a:lnSpc>
              </a:pP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Déploy</a:t>
              </a:r>
              <a:r>
                <a:rPr lang="en-US" sz="2250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er Apprise pour notifications multi-canaux (WhatsApp, SMS, SMTP)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974369" y="6974510"/>
            <a:ext cx="49997" cy="335661"/>
            <a:chOff x="0" y="0"/>
            <a:chExt cx="66662" cy="44754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6675" cy="447548"/>
            </a:xfrm>
            <a:custGeom>
              <a:avLst/>
              <a:gdLst/>
              <a:ahLst/>
              <a:cxnLst/>
              <a:rect r="r" b="b" t="t" l="l"/>
              <a:pathLst>
                <a:path h="447548" w="66675">
                  <a:moveTo>
                    <a:pt x="0" y="0"/>
                  </a:moveTo>
                  <a:lnTo>
                    <a:pt x="66675" y="447548"/>
                  </a:lnTo>
                </a:path>
              </a:pathLst>
            </a:custGeom>
            <a:blipFill>
              <a:blip r:embed="rId4">
                <a:alphaModFix amt="0"/>
              </a:blip>
              <a:stretch>
                <a:fillRect l="-811809" t="0" r="-811809" b="0"/>
              </a:stretch>
            </a:blipFill>
            <a:ln w="28569" cap="sq">
              <a:solidFill>
                <a:srgbClr val="3B6EC9"/>
              </a:solidFill>
              <a:prstDash val="solid"/>
              <a:miter/>
            </a:ln>
          </p:spPr>
        </p:sp>
      </p:grp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079" y="571386"/>
            <a:ext cx="9999297" cy="642814"/>
            <a:chOff x="0" y="0"/>
            <a:chExt cx="13332396" cy="8570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32396" cy="857083"/>
            </a:xfrm>
            <a:custGeom>
              <a:avLst/>
              <a:gdLst/>
              <a:ahLst/>
              <a:cxnLst/>
              <a:rect r="r" b="b" t="t" l="l"/>
              <a:pathLst>
                <a:path h="857083" w="13332396">
                  <a:moveTo>
                    <a:pt x="0" y="0"/>
                  </a:moveTo>
                  <a:lnTo>
                    <a:pt x="13332396" y="0"/>
                  </a:lnTo>
                  <a:lnTo>
                    <a:pt x="13332396" y="857083"/>
                  </a:lnTo>
                  <a:lnTo>
                    <a:pt x="0" y="8570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3100" r="0" b="-2531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332396" cy="942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59"/>
                </a:lnSpc>
              </a:pPr>
              <a:r>
                <a:rPr lang="en-US" b="true" sz="3374" spc="112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CONCLU</a:t>
              </a:r>
              <a:r>
                <a:rPr lang="en-US" b="true" sz="3374" spc="112">
                  <a:solidFill>
                    <a:srgbClr val="3B6EC9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7079" y="1571320"/>
            <a:ext cx="16570262" cy="1857013"/>
            <a:chOff x="0" y="0"/>
            <a:chExt cx="22093682" cy="24760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3682" cy="2475992"/>
            </a:xfrm>
            <a:custGeom>
              <a:avLst/>
              <a:gdLst/>
              <a:ahLst/>
              <a:cxnLst/>
              <a:rect r="r" b="b" t="t" l="l"/>
              <a:pathLst>
                <a:path h="2475992" w="22093682">
                  <a:moveTo>
                    <a:pt x="0" y="0"/>
                  </a:moveTo>
                  <a:lnTo>
                    <a:pt x="22093682" y="0"/>
                  </a:lnTo>
                  <a:lnTo>
                    <a:pt x="22093682" y="2475992"/>
                  </a:lnTo>
                  <a:lnTo>
                    <a:pt x="0" y="2475992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2781" y="1571320"/>
            <a:ext cx="15998876" cy="1857012"/>
            <a:chOff x="0" y="0"/>
            <a:chExt cx="21331834" cy="2476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331834" cy="2476016"/>
            </a:xfrm>
            <a:custGeom>
              <a:avLst/>
              <a:gdLst/>
              <a:ahLst/>
              <a:cxnLst/>
              <a:rect r="r" b="b" t="t" l="l"/>
              <a:pathLst>
                <a:path h="2476016" w="21331834">
                  <a:moveTo>
                    <a:pt x="0" y="0"/>
                  </a:moveTo>
                  <a:lnTo>
                    <a:pt x="21331834" y="0"/>
                  </a:lnTo>
                  <a:lnTo>
                    <a:pt x="21331834" y="2476016"/>
                  </a:lnTo>
                  <a:lnTo>
                    <a:pt x="0" y="24760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871" r="0" b="-11787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80975"/>
              <a:ext cx="21331834" cy="2656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1"/>
                </a:lnSpc>
              </a:pPr>
              <a:r>
                <a:rPr lang="en-US" sz="24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Infrastructure HCI open source deployee avec succes</a:t>
              </a:r>
            </a:p>
            <a:p>
              <a:pPr algn="ctr">
                <a:lnSpc>
                  <a:spcPts val="4751"/>
                </a:lnSpc>
              </a:pPr>
              <a:r>
                <a:rPr lang="en-US" sz="2474">
                  <a:solidFill>
                    <a:srgbClr val="FFFFFF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Repondant aux besoins de test et R&amp;D de Sonatrach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079" y="3928291"/>
            <a:ext cx="8070866" cy="1714167"/>
            <a:chOff x="0" y="0"/>
            <a:chExt cx="10761154" cy="22855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1091" cy="2285492"/>
            </a:xfrm>
            <a:custGeom>
              <a:avLst/>
              <a:gdLst/>
              <a:ahLst/>
              <a:cxnLst/>
              <a:rect r="r" b="b" t="t" l="l"/>
              <a:pathLst>
                <a:path h="22854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14199" y="4356840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999859" y="4071147"/>
            <a:ext cx="6642392" cy="1428474"/>
            <a:chOff x="0" y="0"/>
            <a:chExt cx="8856523" cy="19046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56520" cy="1904628"/>
            </a:xfrm>
            <a:custGeom>
              <a:avLst/>
              <a:gdLst/>
              <a:ahLst/>
              <a:cxnLst/>
              <a:rect r="r" b="b" t="t" l="l"/>
              <a:pathLst>
                <a:path h="1904628" w="8856520">
                  <a:moveTo>
                    <a:pt x="0" y="0"/>
                  </a:moveTo>
                  <a:lnTo>
                    <a:pt x="8856520" y="0"/>
                  </a:lnTo>
                  <a:lnTo>
                    <a:pt x="8856520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8856523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Stack complet :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Proxmox VE, Ceph, OVS, OPNsense, Grafana, Ansible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56484" y="3928291"/>
            <a:ext cx="8070866" cy="1714167"/>
            <a:chOff x="0" y="0"/>
            <a:chExt cx="10761154" cy="2285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61091" cy="2285492"/>
            </a:xfrm>
            <a:custGeom>
              <a:avLst/>
              <a:gdLst/>
              <a:ahLst/>
              <a:cxnLst/>
              <a:rect r="r" b="b" t="t" l="l"/>
              <a:pathLst>
                <a:path h="22854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9713605" y="4356840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499265" y="4071147"/>
            <a:ext cx="6642392" cy="1428474"/>
            <a:chOff x="0" y="0"/>
            <a:chExt cx="8856523" cy="19046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56520" cy="1904628"/>
            </a:xfrm>
            <a:custGeom>
              <a:avLst/>
              <a:gdLst/>
              <a:ahLst/>
              <a:cxnLst/>
              <a:rect r="r" b="b" t="t" l="l"/>
              <a:pathLst>
                <a:path h="1904628" w="8856520">
                  <a:moveTo>
                    <a:pt x="0" y="0"/>
                  </a:moveTo>
                  <a:lnTo>
                    <a:pt x="8856520" y="0"/>
                  </a:lnTo>
                  <a:lnTo>
                    <a:pt x="8856520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8856523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Solution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CLBS personnalisee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pour l'equilibrage de charge automatique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079" y="5999578"/>
            <a:ext cx="8070866" cy="1714167"/>
            <a:chOff x="0" y="0"/>
            <a:chExt cx="10761154" cy="22855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61091" cy="2285492"/>
            </a:xfrm>
            <a:custGeom>
              <a:avLst/>
              <a:gdLst/>
              <a:ahLst/>
              <a:cxnLst/>
              <a:rect r="r" b="b" t="t" l="l"/>
              <a:pathLst>
                <a:path h="22854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214199" y="6428118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6" y="0"/>
                </a:lnTo>
                <a:lnTo>
                  <a:pt x="571386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999859" y="6142425"/>
            <a:ext cx="6642392" cy="1428474"/>
            <a:chOff x="0" y="0"/>
            <a:chExt cx="8856523" cy="19046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56520" cy="1904628"/>
            </a:xfrm>
            <a:custGeom>
              <a:avLst/>
              <a:gdLst/>
              <a:ahLst/>
              <a:cxnLst/>
              <a:rect r="r" b="b" t="t" l="l"/>
              <a:pathLst>
                <a:path h="1904628" w="8856520">
                  <a:moveTo>
                    <a:pt x="0" y="0"/>
                  </a:moveTo>
                  <a:lnTo>
                    <a:pt x="8856520" y="0"/>
                  </a:lnTo>
                  <a:lnTo>
                    <a:pt x="8856520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8856523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Infrastructure </a:t>
              </a: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validee et operationnelle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pour les tests et R&amp;D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56484" y="5999578"/>
            <a:ext cx="8070866" cy="1714167"/>
            <a:chOff x="0" y="0"/>
            <a:chExt cx="10761154" cy="22855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61091" cy="2285492"/>
            </a:xfrm>
            <a:custGeom>
              <a:avLst/>
              <a:gdLst/>
              <a:ahLst/>
              <a:cxnLst/>
              <a:rect r="r" b="b" t="t" l="l"/>
              <a:pathLst>
                <a:path h="2285492" w="10761091">
                  <a:moveTo>
                    <a:pt x="0" y="0"/>
                  </a:moveTo>
                  <a:lnTo>
                    <a:pt x="10761091" y="0"/>
                  </a:lnTo>
                  <a:lnTo>
                    <a:pt x="10761091" y="2285492"/>
                  </a:lnTo>
                  <a:lnTo>
                    <a:pt x="0" y="2285492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9713605" y="6428118"/>
            <a:ext cx="571386" cy="571386"/>
          </a:xfrm>
          <a:custGeom>
            <a:avLst/>
            <a:gdLst/>
            <a:ahLst/>
            <a:cxnLst/>
            <a:rect r="r" b="b" t="t" l="l"/>
            <a:pathLst>
              <a:path h="571386" w="571386">
                <a:moveTo>
                  <a:pt x="0" y="0"/>
                </a:moveTo>
                <a:lnTo>
                  <a:pt x="571385" y="0"/>
                </a:lnTo>
                <a:lnTo>
                  <a:pt x="571385" y="571385"/>
                </a:lnTo>
                <a:lnTo>
                  <a:pt x="0" y="5713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499265" y="6142425"/>
            <a:ext cx="6642392" cy="1428474"/>
            <a:chOff x="0" y="0"/>
            <a:chExt cx="8856523" cy="19046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856520" cy="1904628"/>
            </a:xfrm>
            <a:custGeom>
              <a:avLst/>
              <a:gdLst/>
              <a:ahLst/>
              <a:cxnLst/>
              <a:rect r="r" b="b" t="t" l="l"/>
              <a:pathLst>
                <a:path h="1904628" w="8856520">
                  <a:moveTo>
                    <a:pt x="0" y="0"/>
                  </a:moveTo>
                  <a:lnTo>
                    <a:pt x="8856520" y="0"/>
                  </a:lnTo>
                  <a:lnTo>
                    <a:pt x="8856520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05" r="0" b="-406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8856523" cy="2009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4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Reduction des couts</a:t>
              </a:r>
              <a:r>
                <a:rPr lang="en-US" sz="2024">
                  <a:solidFill>
                    <a:srgbClr val="333333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 significative par rapport aux solutions proprietaires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56797" y="2856938"/>
            <a:ext cx="8570824" cy="42853"/>
            <a:chOff x="0" y="0"/>
            <a:chExt cx="11427765" cy="571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27714" cy="57150"/>
            </a:xfrm>
            <a:custGeom>
              <a:avLst/>
              <a:gdLst/>
              <a:ahLst/>
              <a:cxnLst/>
              <a:rect r="r" b="b" t="t" l="l"/>
              <a:pathLst>
                <a:path h="57150" w="11427714">
                  <a:moveTo>
                    <a:pt x="0" y="0"/>
                  </a:moveTo>
                  <a:lnTo>
                    <a:pt x="11427714" y="0"/>
                  </a:lnTo>
                  <a:lnTo>
                    <a:pt x="11427714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8333" y="3285487"/>
            <a:ext cx="11427771" cy="1428474"/>
            <a:chOff x="0" y="0"/>
            <a:chExt cx="15237028" cy="19046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37023" cy="1904628"/>
            </a:xfrm>
            <a:custGeom>
              <a:avLst/>
              <a:gdLst/>
              <a:ahLst/>
              <a:cxnLst/>
              <a:rect r="r" b="b" t="t" l="l"/>
              <a:pathLst>
                <a:path h="1904628" w="15237023">
                  <a:moveTo>
                    <a:pt x="0" y="0"/>
                  </a:moveTo>
                  <a:lnTo>
                    <a:pt x="15237023" y="0"/>
                  </a:lnTo>
                  <a:lnTo>
                    <a:pt x="15237023" y="1904628"/>
                  </a:lnTo>
                  <a:lnTo>
                    <a:pt x="0" y="1904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0"/>
              <a:ext cx="15237028" cy="2095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61"/>
                </a:lnSpc>
              </a:pPr>
              <a:r>
                <a:rPr lang="en-US" sz="8098" b="true">
                  <a:solidFill>
                    <a:srgbClr val="333333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MERCI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56797" y="4856797"/>
            <a:ext cx="8570824" cy="714232"/>
            <a:chOff x="0" y="0"/>
            <a:chExt cx="11427765" cy="9523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27768" cy="952314"/>
            </a:xfrm>
            <a:custGeom>
              <a:avLst/>
              <a:gdLst/>
              <a:ahLst/>
              <a:cxnLst/>
              <a:rect r="r" b="b" t="t" l="l"/>
              <a:pathLst>
                <a:path h="952314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427765" cy="103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5"/>
                </a:lnSpc>
              </a:pPr>
              <a:r>
                <a:rPr lang="en-US" sz="3149">
                  <a:solidFill>
                    <a:srgbClr val="3B6EC9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pour votre attention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6797" y="5713886"/>
            <a:ext cx="8570824" cy="42853"/>
            <a:chOff x="0" y="0"/>
            <a:chExt cx="11427765" cy="571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27714" cy="57150"/>
            </a:xfrm>
            <a:custGeom>
              <a:avLst/>
              <a:gdLst/>
              <a:ahLst/>
              <a:cxnLst/>
              <a:rect r="r" b="b" t="t" l="l"/>
              <a:pathLst>
                <a:path h="57150" w="11427714">
                  <a:moveTo>
                    <a:pt x="0" y="0"/>
                  </a:moveTo>
                  <a:lnTo>
                    <a:pt x="11427714" y="0"/>
                  </a:lnTo>
                  <a:lnTo>
                    <a:pt x="11427714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571039" y="6285271"/>
            <a:ext cx="7142359" cy="714232"/>
            <a:chOff x="0" y="0"/>
            <a:chExt cx="9523146" cy="952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3140" cy="952314"/>
            </a:xfrm>
            <a:custGeom>
              <a:avLst/>
              <a:gdLst/>
              <a:ahLst/>
              <a:cxnLst/>
              <a:rect r="r" b="b" t="t" l="l"/>
              <a:pathLst>
                <a:path h="952314" w="9523140">
                  <a:moveTo>
                    <a:pt x="0" y="0"/>
                  </a:moveTo>
                  <a:lnTo>
                    <a:pt x="9523140" y="0"/>
                  </a:lnTo>
                  <a:lnTo>
                    <a:pt x="9523140" y="952314"/>
                  </a:lnTo>
                  <a:lnTo>
                    <a:pt x="0" y="952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9523146" cy="1018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7"/>
                </a:lnSpc>
              </a:pPr>
              <a:r>
                <a:rPr lang="en-US" sz="2699" b="true">
                  <a:solidFill>
                    <a:srgbClr val="5A5A5A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Questions 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56797" y="7428052"/>
            <a:ext cx="8570824" cy="571386"/>
            <a:chOff x="0" y="0"/>
            <a:chExt cx="11427765" cy="7618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27768" cy="761851"/>
            </a:xfrm>
            <a:custGeom>
              <a:avLst/>
              <a:gdLst/>
              <a:ahLst/>
              <a:cxnLst/>
              <a:rect r="r" b="b" t="t" l="l"/>
              <a:pathLst>
                <a:path h="761851" w="11427768">
                  <a:moveTo>
                    <a:pt x="0" y="0"/>
                  </a:moveTo>
                  <a:lnTo>
                    <a:pt x="11427768" y="0"/>
                  </a:lnTo>
                  <a:lnTo>
                    <a:pt x="11427768" y="761851"/>
                  </a:lnTo>
                  <a:lnTo>
                    <a:pt x="0" y="761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427765" cy="799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>
                  <a:solidFill>
                    <a:srgbClr val="5A5A5A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Soutenance de Master - Reseaux et Systemes Distribues - Sonatrach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427350" y="9713605"/>
            <a:ext cx="571386" cy="428539"/>
            <a:chOff x="0" y="0"/>
            <a:chExt cx="761848" cy="5713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1873" cy="571373"/>
            </a:xfrm>
            <a:custGeom>
              <a:avLst/>
              <a:gdLst/>
              <a:ahLst/>
              <a:cxnLst/>
              <a:rect r="r" b="b" t="t" l="l"/>
              <a:pathLst>
                <a:path h="571373" w="761873">
                  <a:moveTo>
                    <a:pt x="0" y="0"/>
                  </a:moveTo>
                  <a:lnTo>
                    <a:pt x="761873" y="0"/>
                  </a:lnTo>
                  <a:lnTo>
                    <a:pt x="761873" y="571373"/>
                  </a:lnTo>
                  <a:lnTo>
                    <a:pt x="0" y="571373"/>
                  </a:lnTo>
                  <a:close/>
                </a:path>
              </a:pathLst>
            </a:custGeom>
            <a:solidFill>
              <a:srgbClr val="3B6EC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427350" y="9713605"/>
            <a:ext cx="571386" cy="428541"/>
            <a:chOff x="0" y="0"/>
            <a:chExt cx="761848" cy="5713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1851" cy="571391"/>
            </a:xfrm>
            <a:custGeom>
              <a:avLst/>
              <a:gdLst/>
              <a:ahLst/>
              <a:cxnLst/>
              <a:rect r="r" b="b" t="t" l="l"/>
              <a:pathLst>
                <a:path h="571391" w="761851">
                  <a:moveTo>
                    <a:pt x="0" y="0"/>
                  </a:moveTo>
                  <a:lnTo>
                    <a:pt x="761851" y="0"/>
                  </a:lnTo>
                  <a:lnTo>
                    <a:pt x="761851" y="571391"/>
                  </a:lnTo>
                  <a:lnTo>
                    <a:pt x="0" y="571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61848" cy="609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7"/>
                </a:lnSpc>
              </a:pPr>
              <a:r>
                <a:rPr lang="en-US" sz="1574" b="true">
                  <a:solidFill>
                    <a:srgbClr val="FFFFFF"/>
                  </a:solidFill>
                  <a:latin typeface="Quattrocento Bold"/>
                  <a:ea typeface="Quattrocento Bold"/>
                  <a:cs typeface="Quattrocento Bold"/>
                  <a:sym typeface="Quattrocento Bold"/>
                </a:rPr>
                <a:t>37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DAHMZbMNF7s</dc:identifier>
  <dcterms:modified xsi:type="dcterms:W3CDTF">2011-08-01T06:04:30Z</dcterms:modified>
  <cp:revision>1</cp:revision>
  <dc:title>Infrastructure Hyperconvergee Proxmox VE - Soutenance Master.pptx</dc:title>
</cp:coreProperties>
</file>